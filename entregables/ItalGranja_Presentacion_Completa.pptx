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339215a06a4392" /><Relationship Type="http://schemas.openxmlformats.org/officeDocument/2006/relationships/extended-properties" Target="/docProps/app.xml" Id="R4f81725f43dc4a7e" /><Relationship Type="http://schemas.openxmlformats.org/officeDocument/2006/relationships/officeDocument" Target="/ppt/presentation.xml" Id="Ree97bbefafef4027" /></Relationships>
</file>

<file path=ppt/presentation.xml><?xml version="1.0" encoding="utf-8"?>
<p:presentation xmlns:p="http://schemas.openxmlformats.org/presentationml/2006/main">
  <p:sldMasterIdLst>
    <p:sldMasterId xmlns:r="http://schemas.openxmlformats.org/officeDocument/2006/relationships" id="2147483648" r:id="Rc9deb84e87934ce4"/>
  </p:sldMasterIdLst>
  <p:notesMasterIdLst>
    <p:notesMasterId xmlns:r="http://schemas.openxmlformats.org/officeDocument/2006/relationships" r:id="Rc7504dcb3f6143c2"/>
  </p:notesMasterIdLst>
  <p:sldIdLst>
    <p:sldId xmlns:r="http://schemas.openxmlformats.org/officeDocument/2006/relationships" id="256" r:id="R0542a7c5d0b249d6"/>
    <p:sldId xmlns:r="http://schemas.openxmlformats.org/officeDocument/2006/relationships" id="257" r:id="R6fcba05627914e33"/>
    <p:sldId xmlns:r="http://schemas.openxmlformats.org/officeDocument/2006/relationships" id="258" r:id="R153ae00a831040af"/>
    <p:sldId xmlns:r="http://schemas.openxmlformats.org/officeDocument/2006/relationships" id="259" r:id="R857d1c554f6f4b34"/>
    <p:sldId xmlns:r="http://schemas.openxmlformats.org/officeDocument/2006/relationships" id="260" r:id="R32e5fd56e8b94cd4"/>
    <p:sldId xmlns:r="http://schemas.openxmlformats.org/officeDocument/2006/relationships" id="261" r:id="Rce90d87f60584143"/>
    <p:sldId xmlns:r="http://schemas.openxmlformats.org/officeDocument/2006/relationships" id="262" r:id="Rb86b26212b134de6"/>
    <p:sldId xmlns:r="http://schemas.openxmlformats.org/officeDocument/2006/relationships" id="263" r:id="R0d6a4ab3dd1c4cca"/>
    <p:sldId xmlns:r="http://schemas.openxmlformats.org/officeDocument/2006/relationships" id="264" r:id="Rd796fbc17d5e44ee"/>
    <p:sldId xmlns:r="http://schemas.openxmlformats.org/officeDocument/2006/relationships" id="265" r:id="R2171c708c0314b5d"/>
    <p:sldId xmlns:r="http://schemas.openxmlformats.org/officeDocument/2006/relationships" id="266" r:id="R18aa23c10cdc4d28"/>
    <p:sldId xmlns:r="http://schemas.openxmlformats.org/officeDocument/2006/relationships" id="267" r:id="R1a5c6c8aca874320"/>
    <p:sldId xmlns:r="http://schemas.openxmlformats.org/officeDocument/2006/relationships" id="268" r:id="Rc16fa0bf735648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258799cd4e4e22" /><Relationship Type="http://schemas.openxmlformats.org/officeDocument/2006/relationships/slideMaster" Target="/ppt/slideMasters/slideMaster1.xml" Id="Rc9deb84e87934ce4" /><Relationship Type="http://schemas.openxmlformats.org/officeDocument/2006/relationships/notesMaster" Target="/ppt/notesMasters/notesMaster1.xml" Id="Rc7504dcb3f6143c2" /><Relationship Type="http://schemas.openxmlformats.org/officeDocument/2006/relationships/presProps" Target="/ppt/presProps.xml" Id="R7b5b5c57d3f245e9" /><Relationship Type="http://schemas.openxmlformats.org/officeDocument/2006/relationships/tableStyles" Target="/ppt/tableStyles.xml" Id="R92825f7409ec49e9" /><Relationship Type="http://schemas.openxmlformats.org/officeDocument/2006/relationships/slide" Target="/ppt/slides/slide1.xml" Id="R0542a7c5d0b249d6" /><Relationship Type="http://schemas.openxmlformats.org/officeDocument/2006/relationships/slide" Target="/ppt/slides/slide2.xml" Id="R6fcba05627914e33" /><Relationship Type="http://schemas.openxmlformats.org/officeDocument/2006/relationships/slide" Target="/ppt/slides/slide3.xml" Id="R153ae00a831040af" /><Relationship Type="http://schemas.openxmlformats.org/officeDocument/2006/relationships/slide" Target="/ppt/slides/slide4.xml" Id="R857d1c554f6f4b34" /><Relationship Type="http://schemas.openxmlformats.org/officeDocument/2006/relationships/slide" Target="/ppt/slides/slide5.xml" Id="R32e5fd56e8b94cd4" /><Relationship Type="http://schemas.openxmlformats.org/officeDocument/2006/relationships/slide" Target="/ppt/slides/slide6.xml" Id="Rce90d87f60584143" /><Relationship Type="http://schemas.openxmlformats.org/officeDocument/2006/relationships/slide" Target="/ppt/slides/slide7.xml" Id="Rb86b26212b134de6" /><Relationship Type="http://schemas.openxmlformats.org/officeDocument/2006/relationships/slide" Target="/ppt/slides/slide8.xml" Id="R0d6a4ab3dd1c4cca" /><Relationship Type="http://schemas.openxmlformats.org/officeDocument/2006/relationships/slide" Target="/ppt/slides/slide9.xml" Id="Rd796fbc17d5e44ee" /><Relationship Type="http://schemas.openxmlformats.org/officeDocument/2006/relationships/slide" Target="/ppt/slides/slide10.xml" Id="R2171c708c0314b5d" /><Relationship Type="http://schemas.openxmlformats.org/officeDocument/2006/relationships/slide" Target="/ppt/slides/slide11.xml" Id="R18aa23c10cdc4d28" /><Relationship Type="http://schemas.openxmlformats.org/officeDocument/2006/relationships/slide" Target="/ppt/slides/slide12.xml" Id="R1a5c6c8aca874320" /><Relationship Type="http://schemas.openxmlformats.org/officeDocument/2006/relationships/slide" Target="/ppt/slides/slide13.xml" Id="Rc16fa0bf735648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9300cfd6db47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d78ac85a4849f3" /><Relationship Type="http://schemas.openxmlformats.org/officeDocument/2006/relationships/notesMaster" Target="/ppt/notesMasters/notesMaster1.xml" Id="R731cf30d7f2740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a541f3162a4c07" /><Relationship Type="http://schemas.openxmlformats.org/officeDocument/2006/relationships/notesMaster" Target="/ppt/notesMasters/notesMaster1.xml" Id="Rd910c8bf734c4f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8ead95986843ac" /><Relationship Type="http://schemas.openxmlformats.org/officeDocument/2006/relationships/notesMaster" Target="/ppt/notesMasters/notesMaster1.xml" Id="R6c448ce86c3641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a1ba69e334341" /><Relationship Type="http://schemas.openxmlformats.org/officeDocument/2006/relationships/notesMaster" Target="/ppt/notesMasters/notesMaster1.xml" Id="R8900c16c694642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a025a936d8400c" /><Relationship Type="http://schemas.openxmlformats.org/officeDocument/2006/relationships/notesMaster" Target="/ppt/notesMasters/notesMaster1.xml" Id="R3e2a26cd490e49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af9ae7f4714b70" /><Relationship Type="http://schemas.openxmlformats.org/officeDocument/2006/relationships/notesMaster" Target="/ppt/notesMasters/notesMaster1.xml" Id="Rbc391f6f4ab54a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9703dbd402488f" /><Relationship Type="http://schemas.openxmlformats.org/officeDocument/2006/relationships/notesMaster" Target="/ppt/notesMasters/notesMaster1.xml" Id="Ra730cea18a1e47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e0c77009084fae" /><Relationship Type="http://schemas.openxmlformats.org/officeDocument/2006/relationships/notesMaster" Target="/ppt/notesMasters/notesMaster1.xml" Id="R091045c1a3fa4c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08acb9cb164837" /><Relationship Type="http://schemas.openxmlformats.org/officeDocument/2006/relationships/notesMaster" Target="/ppt/notesMasters/notesMaster1.xml" Id="R57b5e55a08b640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9472b9384c4cfe" /><Relationship Type="http://schemas.openxmlformats.org/officeDocument/2006/relationships/notesMaster" Target="/ppt/notesMasters/notesMaster1.xml" Id="R74c8f6294c4740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8c2d26a412498c" /><Relationship Type="http://schemas.openxmlformats.org/officeDocument/2006/relationships/notesMaster" Target="/ppt/notesMasters/notesMaster1.xml" Id="R3bb4547421324c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99d13f72a84e01" /><Relationship Type="http://schemas.openxmlformats.org/officeDocument/2006/relationships/notesMaster" Target="/ppt/notesMasters/notesMaster1.xml" Id="R59a45afb3d964d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0380a0c6f24a3f" /><Relationship Type="http://schemas.openxmlformats.org/officeDocument/2006/relationships/notesMaster" Target="/ppt/notesMasters/notesMaster1.xml" Id="R306c361d9cdd49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Presentar el propósito: reunir la operación de granjas y convertir sus registros en información útil. La reunión dura 30 minutos: contexto 5, arquitectura 5, avances 8, demo 8 y preguntas 4.</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00:30–01:00. El equipo dispone de 30 minutos. El bloque técnico dura cinco minutos en total, aunque contiene flujo, arquitectura de aplicación, AWS y CI/CD. La demo tiene ocho minutos y preguntas cuatro.</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01:00–03:00. Explicar la necesidad con ejemplos cotidianos. El problema no es solamente registrar: es relacionar inventario, seguimiento y resultados del mismo lote. No atribuir ahorros cuantificados que no se han medido.</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03:00–05:00. Objetivo: convertir los datos de operación en seguimiento y decisiones. La información queda disponible conforme se registra, envía y procesa. Las capturas sin conexión necesitan sincronización antes de que otros usuarios puedan consultarlas.</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05:00–06:00. Recorrer el diagrama de izquierda a derecha. Ejemplo: registrar ingreso de alimento, registrar consumo en seguimiento, validar según proceso y revisar existencia e informe. La validación puede ser una etapa separada de la captura.</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06:00–07:00. Explicar interfaz, servicios y datos sin entrar en código. La web también presenta los reportes. Backend organizado en API, Application, Domain e Infrastructure. EF Core 10 y Npgsql acceden a PostgreSQL. GitHub Actions valida y publica imágenes por ECR en ECS. Fuente técnica: frontend/package.json, frontend/nginx.conf, backend/src/*.csproj y .github/workflows/deploy-production.yml. S3/CloudFront quedó archivado como origen frontend.</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07:00–08:30. AWS ejecuta frontend y backend en servicios ECS separados del clúster devSanmarinoZoo, región us-east-2. El ALB recibe HTTPS y envía /api/* a backend y las rutas web al frontend Nginx. El backend consulta RDS PostgreSQL, documentado en us-east-1. Este es un diagrama lógico: no representa VPC, subredes ni conectividad interregional específica. Fuentes: .github/workflows/deploy-production.yml; frontend/nginx.conf; frontend/src/environments/environment.prod.ts; fase_de_desarrollo/respuesta_auditoria_ciberseguridad_2026-09.md, punto 1; AGENTS.md. Configuración contrastada con repositorio, no con un inventario AWS vivo de esta sesión.</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08:30–10:00. CI comprueba código y CD publica. Workflow Deploy to Production: push a main-produccion, incluido merge, o ejecución manual con selección de componentes. Primero dotnet test Release, Karma/Jasmine ChromeHeadless y siete gates. Backend construye/publica Docker en ECR y actualiza task definition ECS. Frontend depende de tests y backend exitosos, o backend omitido explícitamente en ejecución manual. Cada job espera estabilidad ECS hasta 25 minutos; en despliegue completo el backend se estabiliza antes de iniciar frontend. OIDC asume el rol IAM, sin claves AWS estáticas de acceso. Tags SHA y latest, task definition usa SHA. Las migraciones EF corren al iniciar la API cuando RunMigrations está habilitado. Fuente: .github/workflows/deploy-production.yml, líneas 23–563 y backend/src/ZooSanMarino.API/Program.cs. El paso final resume comprobaciones de cada servicio, no un job independiente adicional.</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10:00–13:00. Describir capacidades implementadas. Las empresas habilitan funciones y parametrizaciones según su operación. No todas utilizan el mismo flujo. Aclarar que registros offline requieren envío/sincronización. El responsable identifica ERP como único pendiente funcional web.</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13:00–15:00. El porcentaje es una estimación del responsable, no una medida de tests ni cobertura. La app móvil aún no se ha desplegado. Los cambios operativos han ajustado su desarrollo. No dar fecha de publicación: depende de consolidar el funcionamiento y cerrar postura en San Marino.</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15:00–18:00. ERP es el pendiente funcional indicado por el responsable. El fin es conectar la operación con el sistema empresarial y reducir doble registro. La dirección, frecuencia y alcance del intercambio están por acordar: la flecha expresa conexión conceptual, no una interfaz ni dirección técnica definida. Códigos ERP o integraciones particulares no equivalen a integración finalizada. Los ajustes por empresa forman parte de evolución continua.</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18:00–26:00. 0–1 login; 1–2 contexto; 2–3:30 ingreso alimento; 3:30–5 seguimiento y validación; 5–6 huevos previamente preparados; 6–7:30 informe; 7:30–8 cierre. Usar un lote de postura y mantener empresa/contexto. Mostrar persistencia al recargar. Ensayar antes con usuario y datos autorizados, fechas y stock compatibles. Si no está preparado el flujo, usar una consulta histórica ensayada. No mostrar confirmaciones simuladas.</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26:00–30:00. Recoger preguntas y acordar responsables. Mantener separada la discusión de ERP, el cierre operativo de postura/móvil y la mejora continua por empresa. No introducir el backlog técnico interno como alcance funcional pendiente.</a:t>
            </a:r>
          </a:p>
          <a:p xmlns:a="http://schemas.openxmlformats.org/drawingml/2006/main">
            <a:r>
              <a:t/>
            </a:r>
          </a:p>
          <a:p xmlns:a="http://schemas.openxmlformats.org/drawingml/2006/main">
            <a:r>
              <a:t>Fuente: guía de reunión ItalGranja, 14-sep-2026, ajustada por el responsable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d23815041b44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f78b760d034abe" /><Relationship Type="http://schemas.openxmlformats.org/officeDocument/2006/relationships/slideLayout" Target="/ppt/slideLayouts/slideLayout1.xml" Id="R0f9877fc866c45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9877fc866c45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4847344be043f5" /><Relationship Type="http://schemas.openxmlformats.org/officeDocument/2006/relationships/image" Target="/ppt/media/image.png" Id="Rce4020c380294fca" /><Relationship Type="http://schemas.openxmlformats.org/officeDocument/2006/relationships/notesSlide" Target="/ppt/notesSlides/notesSlide1.xml" Id="Rcfb1b6e967cf4d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ce229c558a4da9" /><Relationship Type="http://schemas.openxmlformats.org/officeDocument/2006/relationships/notesSlide" Target="/ppt/notesSlides/notesSlide2.xml" Id="R9f4699246c8749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beeadef7bd42b7" /><Relationship Type="http://schemas.openxmlformats.org/officeDocument/2006/relationships/notesSlide" Target="/ppt/notesSlides/notesSlide3.xml" Id="Re271ab495fe940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037051a3f349d8" /><Relationship Type="http://schemas.openxmlformats.org/officeDocument/2006/relationships/notesSlide" Target="/ppt/notesSlides/notesSlide4.xml" Id="R229572edab2541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096e87aff34321" /><Relationship Type="http://schemas.openxmlformats.org/officeDocument/2006/relationships/notesSlide" Target="/ppt/notesSlides/notesSlide5.xml" Id="R21a06bc502da4d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3399ed8c7f4bb9" /><Relationship Type="http://schemas.openxmlformats.org/officeDocument/2006/relationships/notesSlide" Target="/ppt/notesSlides/notesSlide6.xml" Id="R66d2313b47d745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6e7955f5d04ec7" /><Relationship Type="http://schemas.openxmlformats.org/officeDocument/2006/relationships/notesSlide" Target="/ppt/notesSlides/notesSlide7.xml" Id="Re6ec755b8ecd4c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b3c9aea87a4aa0" /><Relationship Type="http://schemas.openxmlformats.org/officeDocument/2006/relationships/notesSlide" Target="/ppt/notesSlides/notesSlide8.xml" Id="R1047bd8dcfba43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bd1e9a10a94421" /><Relationship Type="http://schemas.openxmlformats.org/officeDocument/2006/relationships/notesSlide" Target="/ppt/notesSlides/notesSlide9.xml" Id="Rb43a996079ee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b49fee68f84621" /><Relationship Type="http://schemas.openxmlformats.org/officeDocument/2006/relationships/notesSlide" Target="/ppt/notesSlides/notesSlide10.xml" Id="Rf47a57c6ae3c40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fcd24217664d12" /><Relationship Type="http://schemas.openxmlformats.org/officeDocument/2006/relationships/notesSlide" Target="/ppt/notesSlides/notesSlide11.xml" Id="R52ebf3860a9c4f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8a8298da054423" /><Relationship Type="http://schemas.openxmlformats.org/officeDocument/2006/relationships/notesSlide" Target="/ppt/notesSlides/notesSlide12.xml" Id="Rab8890daa9fb4a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6017c7345c4245" /><Relationship Type="http://schemas.openxmlformats.org/officeDocument/2006/relationships/notesSlide" Target="/ppt/notesSlides/notesSlide13.xml" Id="R8298c3b288364e57"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7850FA-80BF-4A48-AF68-871244E5633C}"/>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e4020c380294fca"/>
          <a:stretch xmlns:a="http://schemas.openxmlformats.org/drawingml/2006/main"/>
        </p:blipFill>
        <p:spPr>
          <a:xfrm xmlns:a="http://schemas.openxmlformats.org/drawingml/2006/main">
            <a:off x="704850" y="630718"/>
            <a:ext cx="3238500" cy="51974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343FEF-54AC-4BEF-A270-94776F2B9256}"/>
              </a:ext>
            </a:extLst>
          </p:cNvPr>
          <p:cNvSpPr>
            <a:spLocks xmlns:a="http://schemas.openxmlformats.org/drawingml/2006/main" noGrp="1"/>
          </p:cNvSpPr>
          <p:nvPr/>
        </p:nvSpPr>
        <p:spPr>
          <a:xfrm xmlns:a="http://schemas.openxmlformats.org/drawingml/2006/main">
            <a:off x="647700" y="1943100"/>
            <a:ext cx="1038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D2181E"/>
                </a:solidFill>
                <a:latin typeface="Arial"/>
                <a:ea typeface="Arial"/>
                <a:cs typeface="Arial"/>
              </a:defRPr>
            </a:pPr>
            <a:r>
              <a:rPr sz="6300" b="1">
                <a:solidFill>
                  <a:srgbClr val="D2181E"/>
                </a:solidFill>
                <a:latin typeface="Arial"/>
                <a:ea typeface="Arial"/>
                <a:cs typeface="Arial"/>
              </a:rPr>
              <a:t>ItalGranja</a:t>
            </a:r>
          </a:p>
        </p:txBody>
      </p:sp>
      <p:sp>
        <p:nvSpPr>
          <p:cNvPr id="4" name="">
            <a:extLst xmlns:a="http://schemas.openxmlformats.org/drawingml/2006/main">
              <a:ext uri="{FF2B5EF4-FFF2-40B4-BE49-F238E27FC236}">
                <a16:creationId xmlns:a16="http://schemas.microsoft.com/office/drawing/2014/main" id="{85490144-AC86-41F3-8E6B-35AA46C9D2D4}"/>
              </a:ext>
            </a:extLst>
          </p:cNvPr>
          <p:cNvSpPr>
            <a:spLocks xmlns:a="http://schemas.openxmlformats.org/drawingml/2006/main" noGrp="1"/>
          </p:cNvSpPr>
          <p:nvPr/>
        </p:nvSpPr>
        <p:spPr>
          <a:xfrm xmlns:a="http://schemas.openxmlformats.org/drawingml/2006/main">
            <a:off x="704850" y="312420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A2D"/>
                </a:solidFill>
                <a:latin typeface="Arial"/>
                <a:ea typeface="Arial"/>
                <a:cs typeface="Arial"/>
              </a:defRPr>
            </a:pPr>
            <a:r>
              <a:rPr sz="3300" b="1">
                <a:solidFill>
                  <a:srgbClr val="262A2D"/>
                </a:solidFill>
                <a:latin typeface="Arial"/>
                <a:ea typeface="Arial"/>
                <a:cs typeface="Arial"/>
              </a:rPr>
              <a:t>Gestión de la operación avícola</a:t>
            </a:r>
          </a:p>
        </p:txBody>
      </p:sp>
      <p:sp>
        <p:nvSpPr>
          <p:cNvPr id="5" name="">
            <a:extLst xmlns:a="http://schemas.openxmlformats.org/drawingml/2006/main">
              <a:ext uri="{FF2B5EF4-FFF2-40B4-BE49-F238E27FC236}">
                <a16:creationId xmlns:a16="http://schemas.microsoft.com/office/drawing/2014/main" id="{330B1895-7CCE-4E48-9C8B-88865702B3D6}"/>
              </a:ext>
            </a:extLst>
          </p:cNvPr>
          <p:cNvSpPr>
            <a:spLocks xmlns:a="http://schemas.openxmlformats.org/drawingml/2006/main" noGrp="1"/>
          </p:cNvSpPr>
          <p:nvPr/>
        </p:nvSpPr>
        <p:spPr>
          <a:xfrm xmlns:a="http://schemas.openxmlformats.org/drawingml/2006/main">
            <a:off x="723900" y="4286250"/>
            <a:ext cx="857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96D"/>
                </a:solidFill>
                <a:latin typeface="Arial"/>
                <a:ea typeface="Arial"/>
                <a:cs typeface="Arial"/>
              </a:defRPr>
            </a:pPr>
            <a:r>
              <a:rPr sz="2400" b="0">
                <a:solidFill>
                  <a:srgbClr val="62696D"/>
                </a:solidFill>
                <a:latin typeface="Arial"/>
                <a:ea typeface="Arial"/>
                <a:cs typeface="Arial"/>
              </a:rPr>
              <a:t>Seguimiento de granjas y lotes</a:t>
            </a:r>
          </a:p>
          <a:p xmlns:a="http://schemas.openxmlformats.org/drawingml/2006/main">
            <a:pPr>
              <a:defRPr sz="2400" b="0">
                <a:solidFill>
                  <a:srgbClr val="62696D"/>
                </a:solidFill>
                <a:latin typeface="Arial"/>
                <a:ea typeface="Arial"/>
                <a:cs typeface="Arial"/>
              </a:defRPr>
            </a:pPr>
            <a:r>
              <a:rPr sz="2400" b="0">
                <a:solidFill>
                  <a:srgbClr val="62696D"/>
                </a:solidFill>
                <a:latin typeface="Arial"/>
                <a:ea typeface="Arial"/>
                <a:cs typeface="Arial"/>
              </a:rPr>
              <a:t>Información para decidir</a:t>
            </a:r>
          </a:p>
        </p:txBody>
      </p:sp>
      <p:sp>
        <p:nvSpPr>
          <p:cNvPr id="6" name="">
            <a:extLst xmlns:a="http://schemas.openxmlformats.org/drawingml/2006/main">
              <a:ext uri="{FF2B5EF4-FFF2-40B4-BE49-F238E27FC236}">
                <a16:creationId xmlns:a16="http://schemas.microsoft.com/office/drawing/2014/main" id="{8E5CB910-8F5C-4423-9DCB-92D4EAB8634F}"/>
              </a:ext>
            </a:extLst>
          </p:cNvPr>
          <p:cNvSpPr>
            <a:spLocks xmlns:a="http://schemas.openxmlformats.org/drawingml/2006/main" noGrp="1"/>
          </p:cNvSpPr>
          <p:nvPr/>
        </p:nvSpPr>
        <p:spPr>
          <a:xfrm xmlns:a="http://schemas.openxmlformats.org/drawingml/2006/main">
            <a:off x="723900" y="601980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2696D"/>
                </a:solidFill>
                <a:latin typeface="Arial"/>
                <a:ea typeface="Arial"/>
                <a:cs typeface="Arial"/>
              </a:defRPr>
            </a:pPr>
            <a:r>
              <a:rPr sz="1500" b="0">
                <a:solidFill>
                  <a:srgbClr val="62696D"/>
                </a:solidFill>
                <a:latin typeface="Arial"/>
                <a:ea typeface="Arial"/>
                <a:cs typeface="Arial"/>
              </a:rPr>
              <a:t>Estado del proyecto / Septiembre de 2026</a:t>
            </a:r>
          </a:p>
        </p:txBody>
      </p:sp>
    </p:spTree>
    <p:extLst>
      <p:ext uri="{BB962C8B-B14F-4D97-AF65-F5344CB8AC3E}">
        <p14:creationId xmlns:p14="http://schemas.microsoft.com/office/powerpoint/2010/main" val="940338076"/>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900D5D-71F6-4C50-90DE-3A508D4B9FDE}"/>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Agenda de la presentación</a:t>
            </a:r>
          </a:p>
        </p:txBody>
      </p:sp>
      <p:sp>
        <p:nvSpPr>
          <p:cNvPr id="2" name="">
            <a:extLst xmlns:a="http://schemas.openxmlformats.org/drawingml/2006/main">
              <a:ext uri="{FF2B5EF4-FFF2-40B4-BE49-F238E27FC236}">
                <a16:creationId xmlns:a16="http://schemas.microsoft.com/office/drawing/2014/main" id="{F50C6729-2A2C-44BA-A113-04B298689300}"/>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08BE924-7326-459F-80A3-1A5DBB5704F3}"/>
              </a:ext>
            </a:extLst>
          </p:cNvPr>
          <p:cNvSpPr>
            <a:spLocks xmlns:a="http://schemas.openxmlformats.org/drawingml/2006/main" noGrp="1"/>
          </p:cNvSpPr>
          <p:nvPr/>
        </p:nvSpPr>
        <p:spPr>
          <a:xfrm xmlns:a="http://schemas.openxmlformats.org/drawingml/2006/main">
            <a:off x="742950" y="18192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2181E"/>
                </a:solidFill>
                <a:latin typeface="Arial"/>
                <a:ea typeface="Arial"/>
                <a:cs typeface="Arial"/>
              </a:defRPr>
            </a:pPr>
            <a:r>
              <a:rPr sz="2625" b="1">
                <a:solidFill>
                  <a:srgbClr val="D2181E"/>
                </a:solidFill>
                <a:latin typeface="Arial"/>
                <a:ea typeface="Arial"/>
                <a:cs typeface="Arial"/>
              </a:rPr>
              <a:t>00:00–05:00</a:t>
            </a:r>
          </a:p>
        </p:txBody>
      </p:sp>
      <p:sp>
        <p:nvSpPr>
          <p:cNvPr id="4" name="">
            <a:extLst xmlns:a="http://schemas.openxmlformats.org/drawingml/2006/main">
              <a:ext uri="{FF2B5EF4-FFF2-40B4-BE49-F238E27FC236}">
                <a16:creationId xmlns:a16="http://schemas.microsoft.com/office/drawing/2014/main" id="{4D96A119-0A6E-4063-B533-552856227E82}"/>
              </a:ext>
            </a:extLst>
          </p:cNvPr>
          <p:cNvSpPr>
            <a:spLocks xmlns:a="http://schemas.openxmlformats.org/drawingml/2006/main" noGrp="1"/>
          </p:cNvSpPr>
          <p:nvPr/>
        </p:nvSpPr>
        <p:spPr>
          <a:xfrm xmlns:a="http://schemas.openxmlformats.org/drawingml/2006/main">
            <a:off x="4324350" y="1847850"/>
            <a:ext cx="719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2A2D"/>
                </a:solidFill>
                <a:latin typeface="Arial"/>
                <a:ea typeface="Arial"/>
                <a:cs typeface="Arial"/>
              </a:defRPr>
            </a:pPr>
            <a:r>
              <a:rPr sz="2400" b="1">
                <a:solidFill>
                  <a:srgbClr val="262A2D"/>
                </a:solidFill>
                <a:latin typeface="Arial"/>
                <a:ea typeface="Arial"/>
                <a:cs typeface="Arial"/>
              </a:rPr>
              <a:t>Problema, objetivo y alcance</a:t>
            </a:r>
          </a:p>
        </p:txBody>
      </p:sp>
      <p:sp>
        <p:nvSpPr>
          <p:cNvPr id="5" name="">
            <a:extLst xmlns:a="http://schemas.openxmlformats.org/drawingml/2006/main">
              <a:ext uri="{FF2B5EF4-FFF2-40B4-BE49-F238E27FC236}">
                <a16:creationId xmlns:a16="http://schemas.microsoft.com/office/drawing/2014/main" id="{D51B9805-93D3-4CCE-A153-A1805F739088}"/>
              </a:ext>
            </a:extLst>
          </p:cNvPr>
          <p:cNvSpPr>
            <a:spLocks xmlns:a="http://schemas.openxmlformats.org/drawingml/2006/main" noGrp="1"/>
          </p:cNvSpPr>
          <p:nvPr/>
        </p:nvSpPr>
        <p:spPr>
          <a:xfrm xmlns:a="http://schemas.openxmlformats.org/drawingml/2006/main">
            <a:off x="742950" y="26193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2181E"/>
                </a:solidFill>
                <a:latin typeface="Arial"/>
                <a:ea typeface="Arial"/>
                <a:cs typeface="Arial"/>
              </a:defRPr>
            </a:pPr>
            <a:r>
              <a:rPr sz="2625" b="1">
                <a:solidFill>
                  <a:srgbClr val="D2181E"/>
                </a:solidFill>
                <a:latin typeface="Arial"/>
                <a:ea typeface="Arial"/>
                <a:cs typeface="Arial"/>
              </a:rPr>
              <a:t>05:00–10:00</a:t>
            </a:r>
          </a:p>
        </p:txBody>
      </p:sp>
      <p:sp>
        <p:nvSpPr>
          <p:cNvPr id="6" name="">
            <a:extLst xmlns:a="http://schemas.openxmlformats.org/drawingml/2006/main">
              <a:ext uri="{FF2B5EF4-FFF2-40B4-BE49-F238E27FC236}">
                <a16:creationId xmlns:a16="http://schemas.microsoft.com/office/drawing/2014/main" id="{2225D066-1C28-4C1C-9F21-D6729904F4FC}"/>
              </a:ext>
            </a:extLst>
          </p:cNvPr>
          <p:cNvSpPr>
            <a:spLocks xmlns:a="http://schemas.openxmlformats.org/drawingml/2006/main" noGrp="1"/>
          </p:cNvSpPr>
          <p:nvPr/>
        </p:nvSpPr>
        <p:spPr>
          <a:xfrm xmlns:a="http://schemas.openxmlformats.org/drawingml/2006/main">
            <a:off x="4324350" y="2647950"/>
            <a:ext cx="719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2A2D"/>
                </a:solidFill>
                <a:latin typeface="Arial"/>
                <a:ea typeface="Arial"/>
                <a:cs typeface="Arial"/>
              </a:defRPr>
            </a:pPr>
            <a:r>
              <a:rPr sz="2400" b="1">
                <a:solidFill>
                  <a:srgbClr val="262A2D"/>
                </a:solidFill>
                <a:latin typeface="Arial"/>
                <a:ea typeface="Arial"/>
                <a:cs typeface="Arial"/>
              </a:rPr>
              <a:t>Arquitectura, AWS y CI/CD</a:t>
            </a:r>
          </a:p>
        </p:txBody>
      </p:sp>
      <p:sp>
        <p:nvSpPr>
          <p:cNvPr id="7" name="">
            <a:extLst xmlns:a="http://schemas.openxmlformats.org/drawingml/2006/main">
              <a:ext uri="{FF2B5EF4-FFF2-40B4-BE49-F238E27FC236}">
                <a16:creationId xmlns:a16="http://schemas.microsoft.com/office/drawing/2014/main" id="{CDF08644-A03A-4CD1-81A1-AF143404E0C4}"/>
              </a:ext>
            </a:extLst>
          </p:cNvPr>
          <p:cNvSpPr>
            <a:spLocks xmlns:a="http://schemas.openxmlformats.org/drawingml/2006/main" noGrp="1"/>
          </p:cNvSpPr>
          <p:nvPr/>
        </p:nvSpPr>
        <p:spPr>
          <a:xfrm xmlns:a="http://schemas.openxmlformats.org/drawingml/2006/main">
            <a:off x="742950" y="34194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2181E"/>
                </a:solidFill>
                <a:latin typeface="Arial"/>
                <a:ea typeface="Arial"/>
                <a:cs typeface="Arial"/>
              </a:defRPr>
            </a:pPr>
            <a:r>
              <a:rPr sz="2625" b="1">
                <a:solidFill>
                  <a:srgbClr val="D2181E"/>
                </a:solidFill>
                <a:latin typeface="Arial"/>
                <a:ea typeface="Arial"/>
                <a:cs typeface="Arial"/>
              </a:rPr>
              <a:t>10:00–18:00</a:t>
            </a:r>
          </a:p>
        </p:txBody>
      </p:sp>
      <p:sp>
        <p:nvSpPr>
          <p:cNvPr id="8" name="">
            <a:extLst xmlns:a="http://schemas.openxmlformats.org/drawingml/2006/main">
              <a:ext uri="{FF2B5EF4-FFF2-40B4-BE49-F238E27FC236}">
                <a16:creationId xmlns:a16="http://schemas.microsoft.com/office/drawing/2014/main" id="{9F141AE2-48B3-4168-8F59-5BB91E155035}"/>
              </a:ext>
            </a:extLst>
          </p:cNvPr>
          <p:cNvSpPr>
            <a:spLocks xmlns:a="http://schemas.openxmlformats.org/drawingml/2006/main" noGrp="1"/>
          </p:cNvSpPr>
          <p:nvPr/>
        </p:nvSpPr>
        <p:spPr>
          <a:xfrm xmlns:a="http://schemas.openxmlformats.org/drawingml/2006/main">
            <a:off x="4324350" y="3448050"/>
            <a:ext cx="719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2A2D"/>
                </a:solidFill>
                <a:latin typeface="Arial"/>
                <a:ea typeface="Arial"/>
                <a:cs typeface="Arial"/>
              </a:defRPr>
            </a:pPr>
            <a:r>
              <a:rPr sz="2400" b="1">
                <a:solidFill>
                  <a:srgbClr val="262A2D"/>
                </a:solidFill>
                <a:latin typeface="Arial"/>
                <a:ea typeface="Arial"/>
                <a:cs typeface="Arial"/>
              </a:rPr>
              <a:t>Lo realizado y lo que falta</a:t>
            </a:r>
          </a:p>
        </p:txBody>
      </p:sp>
      <p:sp>
        <p:nvSpPr>
          <p:cNvPr id="9" name="">
            <a:extLst xmlns:a="http://schemas.openxmlformats.org/drawingml/2006/main">
              <a:ext uri="{FF2B5EF4-FFF2-40B4-BE49-F238E27FC236}">
                <a16:creationId xmlns:a16="http://schemas.microsoft.com/office/drawing/2014/main" id="{BAD6ECC4-3668-4195-8104-F4707BB1BBB4}"/>
              </a:ext>
            </a:extLst>
          </p:cNvPr>
          <p:cNvSpPr>
            <a:spLocks xmlns:a="http://schemas.openxmlformats.org/drawingml/2006/main" noGrp="1"/>
          </p:cNvSpPr>
          <p:nvPr/>
        </p:nvSpPr>
        <p:spPr>
          <a:xfrm xmlns:a="http://schemas.openxmlformats.org/drawingml/2006/main">
            <a:off x="742950" y="42195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2181E"/>
                </a:solidFill>
                <a:latin typeface="Arial"/>
                <a:ea typeface="Arial"/>
                <a:cs typeface="Arial"/>
              </a:defRPr>
            </a:pPr>
            <a:r>
              <a:rPr sz="2625" b="1">
                <a:solidFill>
                  <a:srgbClr val="D2181E"/>
                </a:solidFill>
                <a:latin typeface="Arial"/>
                <a:ea typeface="Arial"/>
                <a:cs typeface="Arial"/>
              </a:rPr>
              <a:t>18:00–26:00</a:t>
            </a:r>
          </a:p>
        </p:txBody>
      </p:sp>
      <p:sp>
        <p:nvSpPr>
          <p:cNvPr id="10" name="">
            <a:extLst xmlns:a="http://schemas.openxmlformats.org/drawingml/2006/main">
              <a:ext uri="{FF2B5EF4-FFF2-40B4-BE49-F238E27FC236}">
                <a16:creationId xmlns:a16="http://schemas.microsoft.com/office/drawing/2014/main" id="{B6841F9B-0CF2-47B8-8A4A-E48CF812F18C}"/>
              </a:ext>
            </a:extLst>
          </p:cNvPr>
          <p:cNvSpPr>
            <a:spLocks xmlns:a="http://schemas.openxmlformats.org/drawingml/2006/main" noGrp="1"/>
          </p:cNvSpPr>
          <p:nvPr/>
        </p:nvSpPr>
        <p:spPr>
          <a:xfrm xmlns:a="http://schemas.openxmlformats.org/drawingml/2006/main">
            <a:off x="4324350" y="4248150"/>
            <a:ext cx="719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2A2D"/>
                </a:solidFill>
                <a:latin typeface="Arial"/>
                <a:ea typeface="Arial"/>
                <a:cs typeface="Arial"/>
              </a:defRPr>
            </a:pPr>
            <a:r>
              <a:rPr sz="2400" b="1">
                <a:solidFill>
                  <a:srgbClr val="262A2D"/>
                </a:solidFill>
                <a:latin typeface="Arial"/>
                <a:ea typeface="Arial"/>
                <a:cs typeface="Arial"/>
              </a:rPr>
              <a:t>Demostración en vivo</a:t>
            </a:r>
          </a:p>
        </p:txBody>
      </p:sp>
      <p:sp>
        <p:nvSpPr>
          <p:cNvPr id="11" name="">
            <a:extLst xmlns:a="http://schemas.openxmlformats.org/drawingml/2006/main">
              <a:ext uri="{FF2B5EF4-FFF2-40B4-BE49-F238E27FC236}">
                <a16:creationId xmlns:a16="http://schemas.microsoft.com/office/drawing/2014/main" id="{CA38C47E-6E91-4713-8692-16E1234F3C71}"/>
              </a:ext>
            </a:extLst>
          </p:cNvPr>
          <p:cNvSpPr>
            <a:spLocks xmlns:a="http://schemas.openxmlformats.org/drawingml/2006/main" noGrp="1"/>
          </p:cNvSpPr>
          <p:nvPr/>
        </p:nvSpPr>
        <p:spPr>
          <a:xfrm xmlns:a="http://schemas.openxmlformats.org/drawingml/2006/main">
            <a:off x="742950" y="50196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2181E"/>
                </a:solidFill>
                <a:latin typeface="Arial"/>
                <a:ea typeface="Arial"/>
                <a:cs typeface="Arial"/>
              </a:defRPr>
            </a:pPr>
            <a:r>
              <a:rPr sz="2625" b="1">
                <a:solidFill>
                  <a:srgbClr val="D2181E"/>
                </a:solidFill>
                <a:latin typeface="Arial"/>
                <a:ea typeface="Arial"/>
                <a:cs typeface="Arial"/>
              </a:rPr>
              <a:t>26:00–30:00</a:t>
            </a:r>
          </a:p>
        </p:txBody>
      </p:sp>
      <p:sp>
        <p:nvSpPr>
          <p:cNvPr id="12" name="">
            <a:extLst xmlns:a="http://schemas.openxmlformats.org/drawingml/2006/main">
              <a:ext uri="{FF2B5EF4-FFF2-40B4-BE49-F238E27FC236}">
                <a16:creationId xmlns:a16="http://schemas.microsoft.com/office/drawing/2014/main" id="{9F54FBC3-C8EA-4481-AD50-10BFC223BCDE}"/>
              </a:ext>
            </a:extLst>
          </p:cNvPr>
          <p:cNvSpPr>
            <a:spLocks xmlns:a="http://schemas.openxmlformats.org/drawingml/2006/main" noGrp="1"/>
          </p:cNvSpPr>
          <p:nvPr/>
        </p:nvSpPr>
        <p:spPr>
          <a:xfrm xmlns:a="http://schemas.openxmlformats.org/drawingml/2006/main">
            <a:off x="4324350" y="5048250"/>
            <a:ext cx="719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62A2D"/>
                </a:solidFill>
                <a:latin typeface="Arial"/>
                <a:ea typeface="Arial"/>
                <a:cs typeface="Arial"/>
              </a:defRPr>
            </a:pPr>
            <a:r>
              <a:rPr sz="2400" b="1">
                <a:solidFill>
                  <a:srgbClr val="262A2D"/>
                </a:solidFill>
                <a:latin typeface="Arial"/>
                <a:ea typeface="Arial"/>
                <a:cs typeface="Arial"/>
              </a:rPr>
              <a:t>Preguntas y acuerdos</a:t>
            </a:r>
          </a:p>
        </p:txBody>
      </p:sp>
    </p:spTree>
    <p:extLst>
      <p:ext uri="{BB962C8B-B14F-4D97-AF65-F5344CB8AC3E}">
        <p14:creationId xmlns:p14="http://schemas.microsoft.com/office/powerpoint/2010/main" val="273310975"/>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68F7B8-D439-46E6-89A4-15CB9838E770}"/>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La información que necesita la granja</a:t>
            </a:r>
          </a:p>
        </p:txBody>
      </p:sp>
      <p:sp>
        <p:nvSpPr>
          <p:cNvPr id="2" name="">
            <a:extLst xmlns:a="http://schemas.openxmlformats.org/drawingml/2006/main">
              <a:ext uri="{FF2B5EF4-FFF2-40B4-BE49-F238E27FC236}">
                <a16:creationId xmlns:a16="http://schemas.microsoft.com/office/drawing/2014/main" id="{69DD08D4-AB35-4D8A-AEE3-B2CC2D447C46}"/>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B79A913-5827-4671-89F9-F7E3D0382AF9}"/>
              </a:ext>
            </a:extLst>
          </p:cNvPr>
          <p:cNvSpPr>
            <a:spLocks xmlns:a="http://schemas.openxmlformats.org/drawingml/2006/main" noGrp="1"/>
          </p:cNvSpPr>
          <p:nvPr/>
        </p:nvSpPr>
        <p:spPr>
          <a:xfrm xmlns:a="http://schemas.openxmlformats.org/drawingml/2006/main">
            <a:off x="704850" y="1866900"/>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2181E"/>
                </a:solidFill>
                <a:latin typeface="Arial"/>
                <a:ea typeface="Arial"/>
                <a:cs typeface="Arial"/>
              </a:defRPr>
            </a:pPr>
            <a:r>
              <a:rPr sz="3975" b="1">
                <a:solidFill>
                  <a:srgbClr val="D2181E"/>
                </a:solidFill>
                <a:latin typeface="Arial"/>
                <a:ea typeface="Arial"/>
                <a:cs typeface="Arial"/>
              </a:rPr>
              <a:t>Cada día deja datos</a:t>
            </a:r>
          </a:p>
          <a:p xmlns:a="http://schemas.openxmlformats.org/drawingml/2006/main">
            <a:pPr>
              <a:defRPr sz="3975" b="1">
                <a:solidFill>
                  <a:srgbClr val="D2181E"/>
                </a:solidFill>
                <a:latin typeface="Arial"/>
                <a:ea typeface="Arial"/>
                <a:cs typeface="Arial"/>
              </a:defRPr>
            </a:pPr>
            <a:r>
              <a:rPr sz="3975" b="1">
                <a:solidFill>
                  <a:srgbClr val="D2181E"/>
                </a:solidFill>
                <a:latin typeface="Arial"/>
                <a:ea typeface="Arial"/>
                <a:cs typeface="Arial"/>
              </a:rPr>
              <a:t>que deben conectarse</a:t>
            </a:r>
          </a:p>
        </p:txBody>
      </p:sp>
      <p:sp>
        <p:nvSpPr>
          <p:cNvPr id="4" name="">
            <a:extLst xmlns:a="http://schemas.openxmlformats.org/drawingml/2006/main">
              <a:ext uri="{FF2B5EF4-FFF2-40B4-BE49-F238E27FC236}">
                <a16:creationId xmlns:a16="http://schemas.microsoft.com/office/drawing/2014/main" id="{100A947F-8FCD-4203-A393-6E0AE4E96792}"/>
              </a:ext>
            </a:extLst>
          </p:cNvPr>
          <p:cNvSpPr>
            <a:spLocks xmlns:a="http://schemas.openxmlformats.org/drawingml/2006/main" noGrp="1"/>
          </p:cNvSpPr>
          <p:nvPr/>
        </p:nvSpPr>
        <p:spPr>
          <a:xfrm xmlns:a="http://schemas.openxmlformats.org/drawingml/2006/main">
            <a:off x="6762750" y="18859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y existencias</a:t>
            </a:r>
          </a:p>
        </p:txBody>
      </p:sp>
      <p:sp>
        <p:nvSpPr>
          <p:cNvPr id="5" name="">
            <a:extLst xmlns:a="http://schemas.openxmlformats.org/drawingml/2006/main">
              <a:ext uri="{FF2B5EF4-FFF2-40B4-BE49-F238E27FC236}">
                <a16:creationId xmlns:a16="http://schemas.microsoft.com/office/drawing/2014/main" id="{0FE216FD-2CD9-47A0-9741-4C97A4868AD4}"/>
              </a:ext>
            </a:extLst>
          </p:cNvPr>
          <p:cNvSpPr>
            <a:spLocks xmlns:a="http://schemas.openxmlformats.org/drawingml/2006/main" noGrp="1"/>
          </p:cNvSpPr>
          <p:nvPr/>
        </p:nvSpPr>
        <p:spPr>
          <a:xfrm xmlns:a="http://schemas.openxmlformats.org/drawingml/2006/main">
            <a:off x="6762750" y="22955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Qué ingresó, cuánto se consumió y dónde.</a:t>
            </a:r>
          </a:p>
        </p:txBody>
      </p:sp>
      <p:sp>
        <p:nvSpPr>
          <p:cNvPr id="6" name="">
            <a:extLst xmlns:a="http://schemas.openxmlformats.org/drawingml/2006/main">
              <a:ext uri="{FF2B5EF4-FFF2-40B4-BE49-F238E27FC236}">
                <a16:creationId xmlns:a16="http://schemas.microsoft.com/office/drawing/2014/main" id="{848A013A-6FB7-42DF-ABCF-A007C77DDA99}"/>
              </a:ext>
            </a:extLst>
          </p:cNvPr>
          <p:cNvSpPr>
            <a:spLocks xmlns:a="http://schemas.openxmlformats.org/drawingml/2006/main" noGrp="1"/>
          </p:cNvSpPr>
          <p:nvPr/>
        </p:nvSpPr>
        <p:spPr>
          <a:xfrm xmlns:a="http://schemas.openxmlformats.org/drawingml/2006/main">
            <a:off x="6762750" y="30384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Aves y novedades</a:t>
            </a:r>
          </a:p>
        </p:txBody>
      </p:sp>
      <p:sp>
        <p:nvSpPr>
          <p:cNvPr id="7" name="">
            <a:extLst xmlns:a="http://schemas.openxmlformats.org/drawingml/2006/main">
              <a:ext uri="{FF2B5EF4-FFF2-40B4-BE49-F238E27FC236}">
                <a16:creationId xmlns:a16="http://schemas.microsoft.com/office/drawing/2014/main" id="{E40DD713-EBF9-45EE-A09E-62B1B4651D4A}"/>
              </a:ext>
            </a:extLst>
          </p:cNvPr>
          <p:cNvSpPr>
            <a:spLocks xmlns:a="http://schemas.openxmlformats.org/drawingml/2006/main" noGrp="1"/>
          </p:cNvSpPr>
          <p:nvPr/>
        </p:nvSpPr>
        <p:spPr>
          <a:xfrm xmlns:a="http://schemas.openxmlformats.org/drawingml/2006/main">
            <a:off x="6762750" y="34480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Cómo evoluciona el lote y qué ocurrió.</a:t>
            </a:r>
          </a:p>
        </p:txBody>
      </p:sp>
      <p:sp>
        <p:nvSpPr>
          <p:cNvPr id="8" name="">
            <a:extLst xmlns:a="http://schemas.openxmlformats.org/drawingml/2006/main">
              <a:ext uri="{FF2B5EF4-FFF2-40B4-BE49-F238E27FC236}">
                <a16:creationId xmlns:a16="http://schemas.microsoft.com/office/drawing/2014/main" id="{9392F1EB-5293-410F-A5ED-3C99132C2DA0}"/>
              </a:ext>
            </a:extLst>
          </p:cNvPr>
          <p:cNvSpPr>
            <a:spLocks xmlns:a="http://schemas.openxmlformats.org/drawingml/2006/main" noGrp="1"/>
          </p:cNvSpPr>
          <p:nvPr/>
        </p:nvSpPr>
        <p:spPr>
          <a:xfrm xmlns:a="http://schemas.openxmlformats.org/drawingml/2006/main">
            <a:off x="6762750" y="41910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de huevos</a:t>
            </a:r>
          </a:p>
        </p:txBody>
      </p:sp>
      <p:sp>
        <p:nvSpPr>
          <p:cNvPr id="9" name="">
            <a:extLst xmlns:a="http://schemas.openxmlformats.org/drawingml/2006/main">
              <a:ext uri="{FF2B5EF4-FFF2-40B4-BE49-F238E27FC236}">
                <a16:creationId xmlns:a16="http://schemas.microsoft.com/office/drawing/2014/main" id="{13D3FF3D-5990-4987-8CC0-C6C574F78394}"/>
              </a:ext>
            </a:extLst>
          </p:cNvPr>
          <p:cNvSpPr>
            <a:spLocks xmlns:a="http://schemas.openxmlformats.org/drawingml/2006/main" noGrp="1"/>
          </p:cNvSpPr>
          <p:nvPr/>
        </p:nvSpPr>
        <p:spPr>
          <a:xfrm xmlns:a="http://schemas.openxmlformats.org/drawingml/2006/main">
            <a:off x="6762750" y="46005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Cuánto se produjo y cómo se clasificó.</a:t>
            </a:r>
          </a:p>
        </p:txBody>
      </p:sp>
      <p:sp>
        <p:nvSpPr>
          <p:cNvPr id="10" name="">
            <a:extLst xmlns:a="http://schemas.openxmlformats.org/drawingml/2006/main">
              <a:ext uri="{FF2B5EF4-FFF2-40B4-BE49-F238E27FC236}">
                <a16:creationId xmlns:a16="http://schemas.microsoft.com/office/drawing/2014/main" id="{EDD31440-D8B6-4E32-A8EB-5BB5D21CBF42}"/>
              </a:ext>
            </a:extLst>
          </p:cNvPr>
          <p:cNvSpPr>
            <a:spLocks xmlns:a="http://schemas.openxmlformats.org/drawingml/2006/main" noGrp="1"/>
          </p:cNvSpPr>
          <p:nvPr/>
        </p:nvSpPr>
        <p:spPr>
          <a:xfrm xmlns:a="http://schemas.openxmlformats.org/drawingml/2006/main">
            <a:off x="723900" y="54292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La captura dispersa y la consolidación tardía dificultan el seguimiento.</a:t>
            </a:r>
          </a:p>
        </p:txBody>
      </p:sp>
    </p:spTree>
    <p:extLst>
      <p:ext uri="{BB962C8B-B14F-4D97-AF65-F5344CB8AC3E}">
        <p14:creationId xmlns:p14="http://schemas.microsoft.com/office/powerpoint/2010/main" val="862707509"/>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3ABAC4-4F6D-470C-AD46-F9C41D736861}"/>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Objetivo y alcance de ItalGranja</a:t>
            </a:r>
          </a:p>
        </p:txBody>
      </p:sp>
      <p:sp>
        <p:nvSpPr>
          <p:cNvPr id="2" name="">
            <a:extLst xmlns:a="http://schemas.openxmlformats.org/drawingml/2006/main">
              <a:ext uri="{FF2B5EF4-FFF2-40B4-BE49-F238E27FC236}">
                <a16:creationId xmlns:a16="http://schemas.microsoft.com/office/drawing/2014/main" id="{64955DE2-3D3B-4AFE-AEE1-925B500F31E1}"/>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F338C9A-BDD2-4BE3-A4E2-D5ED9CD59786}"/>
              </a:ext>
            </a:extLst>
          </p:cNvPr>
          <p:cNvSpPr>
            <a:spLocks xmlns:a="http://schemas.openxmlformats.org/drawingml/2006/main" noGrp="1"/>
          </p:cNvSpPr>
          <p:nvPr/>
        </p:nvSpPr>
        <p:spPr>
          <a:xfrm xmlns:a="http://schemas.openxmlformats.org/drawingml/2006/main">
            <a:off x="685800" y="1733550"/>
            <a:ext cx="10572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D2181E"/>
                </a:solidFill>
                <a:latin typeface="Arial"/>
                <a:ea typeface="Arial"/>
                <a:cs typeface="Arial"/>
              </a:defRPr>
            </a:pPr>
            <a:r>
              <a:rPr sz="3825" b="1">
                <a:solidFill>
                  <a:srgbClr val="D2181E"/>
                </a:solidFill>
                <a:latin typeface="Arial"/>
                <a:ea typeface="Arial"/>
                <a:cs typeface="Arial"/>
              </a:rPr>
              <a:t>Centralizar la operación</a:t>
            </a:r>
          </a:p>
          <a:p xmlns:a="http://schemas.openxmlformats.org/drawingml/2006/main">
            <a:pPr>
              <a:defRPr sz="3825" b="1">
                <a:solidFill>
                  <a:srgbClr val="D2181E"/>
                </a:solidFill>
                <a:latin typeface="Arial"/>
                <a:ea typeface="Arial"/>
                <a:cs typeface="Arial"/>
              </a:defRPr>
            </a:pPr>
            <a:r>
              <a:rPr sz="3825" b="1">
                <a:solidFill>
                  <a:srgbClr val="D2181E"/>
                </a:solidFill>
                <a:latin typeface="Arial"/>
                <a:ea typeface="Arial"/>
                <a:cs typeface="Arial"/>
              </a:rPr>
              <a:t>y mantener su trazabilidad</a:t>
            </a:r>
          </a:p>
        </p:txBody>
      </p:sp>
      <p:sp>
        <p:nvSpPr>
          <p:cNvPr id="4" name="">
            <a:extLst xmlns:a="http://schemas.openxmlformats.org/drawingml/2006/main">
              <a:ext uri="{FF2B5EF4-FFF2-40B4-BE49-F238E27FC236}">
                <a16:creationId xmlns:a16="http://schemas.microsoft.com/office/drawing/2014/main" id="{D2C2CB3F-1434-4B02-9C29-4007D207A438}"/>
              </a:ext>
            </a:extLst>
          </p:cNvPr>
          <p:cNvSpPr>
            <a:spLocks xmlns:a="http://schemas.openxmlformats.org/drawingml/2006/main" noGrp="1"/>
          </p:cNvSpPr>
          <p:nvPr/>
        </p:nvSpPr>
        <p:spPr>
          <a:xfrm xmlns:a="http://schemas.openxmlformats.org/drawingml/2006/main">
            <a:off x="723900" y="3457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Organización</a:t>
            </a:r>
          </a:p>
        </p:txBody>
      </p:sp>
      <p:sp>
        <p:nvSpPr>
          <p:cNvPr id="5" name="">
            <a:extLst xmlns:a="http://schemas.openxmlformats.org/drawingml/2006/main">
              <a:ext uri="{FF2B5EF4-FFF2-40B4-BE49-F238E27FC236}">
                <a16:creationId xmlns:a16="http://schemas.microsoft.com/office/drawing/2014/main" id="{FCC29049-0934-41FD-87B8-8C68B7D137ED}"/>
              </a:ext>
            </a:extLst>
          </p:cNvPr>
          <p:cNvSpPr>
            <a:spLocks xmlns:a="http://schemas.openxmlformats.org/drawingml/2006/main" noGrp="1"/>
          </p:cNvSpPr>
          <p:nvPr/>
        </p:nvSpPr>
        <p:spPr>
          <a:xfrm xmlns:a="http://schemas.openxmlformats.org/drawingml/2006/main">
            <a:off x="723900" y="38671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Empresas, granjas, galpones y lotes con acceso por perfil.</a:t>
            </a:r>
          </a:p>
        </p:txBody>
      </p:sp>
      <p:sp>
        <p:nvSpPr>
          <p:cNvPr id="6" name="">
            <a:extLst xmlns:a="http://schemas.openxmlformats.org/drawingml/2006/main">
              <a:ext uri="{FF2B5EF4-FFF2-40B4-BE49-F238E27FC236}">
                <a16:creationId xmlns:a16="http://schemas.microsoft.com/office/drawing/2014/main" id="{DD69FEDF-6411-4154-B01B-FBD6CBFAA742}"/>
              </a:ext>
            </a:extLst>
          </p:cNvPr>
          <p:cNvSpPr>
            <a:spLocks xmlns:a="http://schemas.openxmlformats.org/drawingml/2006/main" noGrp="1"/>
          </p:cNvSpPr>
          <p:nvPr/>
        </p:nvSpPr>
        <p:spPr>
          <a:xfrm xmlns:a="http://schemas.openxmlformats.org/drawingml/2006/main">
            <a:off x="723900" y="42481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Operación</a:t>
            </a:r>
          </a:p>
        </p:txBody>
      </p:sp>
      <p:sp>
        <p:nvSpPr>
          <p:cNvPr id="7" name="">
            <a:extLst xmlns:a="http://schemas.openxmlformats.org/drawingml/2006/main">
              <a:ext uri="{FF2B5EF4-FFF2-40B4-BE49-F238E27FC236}">
                <a16:creationId xmlns:a16="http://schemas.microsoft.com/office/drawing/2014/main" id="{88071FED-8907-4BF8-9124-209637A7D05F}"/>
              </a:ext>
            </a:extLst>
          </p:cNvPr>
          <p:cNvSpPr>
            <a:spLocks xmlns:a="http://schemas.openxmlformats.org/drawingml/2006/main" noGrp="1"/>
          </p:cNvSpPr>
          <p:nvPr/>
        </p:nvSpPr>
        <p:spPr>
          <a:xfrm xmlns:a="http://schemas.openxmlformats.org/drawingml/2006/main">
            <a:off x="723900" y="46577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Levante, postura y engorde según la configuración de cada empresa.</a:t>
            </a:r>
          </a:p>
        </p:txBody>
      </p:sp>
      <p:sp>
        <p:nvSpPr>
          <p:cNvPr id="8" name="">
            <a:extLst xmlns:a="http://schemas.openxmlformats.org/drawingml/2006/main">
              <a:ext uri="{FF2B5EF4-FFF2-40B4-BE49-F238E27FC236}">
                <a16:creationId xmlns:a16="http://schemas.microsoft.com/office/drawing/2014/main" id="{70246EA2-FC10-4F15-8215-80354054A106}"/>
              </a:ext>
            </a:extLst>
          </p:cNvPr>
          <p:cNvSpPr>
            <a:spLocks xmlns:a="http://schemas.openxmlformats.org/drawingml/2006/main" noGrp="1"/>
          </p:cNvSpPr>
          <p:nvPr/>
        </p:nvSpPr>
        <p:spPr>
          <a:xfrm xmlns:a="http://schemas.openxmlformats.org/drawingml/2006/main">
            <a:off x="723900" y="50387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Información</a:t>
            </a:r>
          </a:p>
        </p:txBody>
      </p:sp>
      <p:sp>
        <p:nvSpPr>
          <p:cNvPr id="9" name="">
            <a:extLst xmlns:a="http://schemas.openxmlformats.org/drawingml/2006/main">
              <a:ext uri="{FF2B5EF4-FFF2-40B4-BE49-F238E27FC236}">
                <a16:creationId xmlns:a16="http://schemas.microsoft.com/office/drawing/2014/main" id="{A150B6A9-AD3E-4B50-B382-C62100C7D9BD}"/>
              </a:ext>
            </a:extLst>
          </p:cNvPr>
          <p:cNvSpPr>
            <a:spLocks xmlns:a="http://schemas.openxmlformats.org/drawingml/2006/main" noGrp="1"/>
          </p:cNvSpPr>
          <p:nvPr/>
        </p:nvSpPr>
        <p:spPr>
          <a:xfrm xmlns:a="http://schemas.openxmlformats.org/drawingml/2006/main">
            <a:off x="723900" y="54483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Alimento, aves, huevos, novedades, indicadores y reportes.</a:t>
            </a:r>
          </a:p>
        </p:txBody>
      </p:sp>
    </p:spTree>
    <p:extLst>
      <p:ext uri="{BB962C8B-B14F-4D97-AF65-F5344CB8AC3E}">
        <p14:creationId xmlns:p14="http://schemas.microsoft.com/office/powerpoint/2010/main" val="427309940"/>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2B27E8-DF0B-4816-B6A7-A11903244630}"/>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El recorrido de un registro</a:t>
            </a:r>
          </a:p>
        </p:txBody>
      </p:sp>
      <p:sp>
        <p:nvSpPr>
          <p:cNvPr id="2" name="">
            <a:extLst xmlns:a="http://schemas.openxmlformats.org/drawingml/2006/main">
              <a:ext uri="{FF2B5EF4-FFF2-40B4-BE49-F238E27FC236}">
                <a16:creationId xmlns:a16="http://schemas.microsoft.com/office/drawing/2014/main" id="{3881CEF8-2C81-4E36-A269-C4FB5106861C}"/>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B63B6D2-C712-455C-A103-8F6BD63717F8}"/>
              </a:ext>
            </a:extLst>
          </p:cNvPr>
          <p:cNvSpPr>
            <a:spLocks xmlns:a="http://schemas.openxmlformats.org/drawingml/2006/main" noGrp="1"/>
          </p:cNvSpPr>
          <p:nvPr/>
        </p:nvSpPr>
        <p:spPr>
          <a:xfrm xmlns:a="http://schemas.openxmlformats.org/drawingml/2006/main">
            <a:off x="70485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03F21B65-F8EF-4B0C-80BE-0D76A0220033}"/>
              </a:ext>
            </a:extLst>
          </p:cNvPr>
          <p:cNvSpPr>
            <a:spLocks xmlns:a="http://schemas.openxmlformats.org/drawingml/2006/main" noGrp="1"/>
          </p:cNvSpPr>
          <p:nvPr/>
        </p:nvSpPr>
        <p:spPr>
          <a:xfrm xmlns:a="http://schemas.openxmlformats.org/drawingml/2006/main">
            <a:off x="87630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Ubicar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Granja y lote</a:t>
            </a:r>
          </a:p>
        </p:txBody>
      </p:sp>
      <p:sp>
        <p:nvSpPr>
          <p:cNvPr id="5" name="">
            <a:extLst xmlns:a="http://schemas.openxmlformats.org/drawingml/2006/main">
              <a:ext uri="{FF2B5EF4-FFF2-40B4-BE49-F238E27FC236}">
                <a16:creationId xmlns:a16="http://schemas.microsoft.com/office/drawing/2014/main" id="{BFE69F00-AACF-4599-8454-B9BBB5FD177B}"/>
              </a:ext>
            </a:extLst>
          </p:cNvPr>
          <p:cNvSpPr>
            <a:spLocks xmlns:a="http://schemas.openxmlformats.org/drawingml/2006/main" noGrp="1"/>
          </p:cNvSpPr>
          <p:nvPr/>
        </p:nvSpPr>
        <p:spPr>
          <a:xfrm xmlns:a="http://schemas.openxmlformats.org/drawingml/2006/main">
            <a:off x="301942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B6BC8B-9A26-4E59-A03D-DEB27C9BB2EC}"/>
              </a:ext>
            </a:extLst>
          </p:cNvPr>
          <p:cNvSpPr>
            <a:spLocks xmlns:a="http://schemas.openxmlformats.org/drawingml/2006/main" noGrp="1"/>
          </p:cNvSpPr>
          <p:nvPr/>
        </p:nvSpPr>
        <p:spPr>
          <a:xfrm xmlns:a="http://schemas.openxmlformats.org/drawingml/2006/main">
            <a:off x="358140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3A6AD6D7-256B-4A4D-8A11-7AC93DDD7E10}"/>
              </a:ext>
            </a:extLst>
          </p:cNvPr>
          <p:cNvSpPr>
            <a:spLocks xmlns:a="http://schemas.openxmlformats.org/drawingml/2006/main" noGrp="1"/>
          </p:cNvSpPr>
          <p:nvPr/>
        </p:nvSpPr>
        <p:spPr>
          <a:xfrm xmlns:a="http://schemas.openxmlformats.org/drawingml/2006/main">
            <a:off x="375285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Capturar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Operación diaria</a:t>
            </a:r>
          </a:p>
        </p:txBody>
      </p:sp>
      <p:sp>
        <p:nvSpPr>
          <p:cNvPr id="8" name="">
            <a:extLst xmlns:a="http://schemas.openxmlformats.org/drawingml/2006/main">
              <a:ext uri="{FF2B5EF4-FFF2-40B4-BE49-F238E27FC236}">
                <a16:creationId xmlns:a16="http://schemas.microsoft.com/office/drawing/2014/main" id="{DE5EAD04-9489-4296-8AF0-C07D54A1881F}"/>
              </a:ext>
            </a:extLst>
          </p:cNvPr>
          <p:cNvSpPr>
            <a:spLocks xmlns:a="http://schemas.openxmlformats.org/drawingml/2006/main" noGrp="1"/>
          </p:cNvSpPr>
          <p:nvPr/>
        </p:nvSpPr>
        <p:spPr>
          <a:xfrm xmlns:a="http://schemas.openxmlformats.org/drawingml/2006/main">
            <a:off x="589597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7E15A9-12BC-4A4A-A958-2A4C82A11601}"/>
              </a:ext>
            </a:extLst>
          </p:cNvPr>
          <p:cNvSpPr>
            <a:spLocks xmlns:a="http://schemas.openxmlformats.org/drawingml/2006/main" noGrp="1"/>
          </p:cNvSpPr>
          <p:nvPr/>
        </p:nvSpPr>
        <p:spPr>
          <a:xfrm xmlns:a="http://schemas.openxmlformats.org/drawingml/2006/main">
            <a:off x="645795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402C06D7-A83E-40A3-B691-B39BB385CFA0}"/>
              </a:ext>
            </a:extLst>
          </p:cNvPr>
          <p:cNvSpPr>
            <a:spLocks xmlns:a="http://schemas.openxmlformats.org/drawingml/2006/main" noGrp="1"/>
          </p:cNvSpPr>
          <p:nvPr/>
        </p:nvSpPr>
        <p:spPr>
          <a:xfrm xmlns:a="http://schemas.openxmlformats.org/drawingml/2006/main">
            <a:off x="662940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Validar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Según el flujo</a:t>
            </a:r>
          </a:p>
        </p:txBody>
      </p:sp>
      <p:sp>
        <p:nvSpPr>
          <p:cNvPr id="11" name="">
            <a:extLst xmlns:a="http://schemas.openxmlformats.org/drawingml/2006/main">
              <a:ext uri="{FF2B5EF4-FFF2-40B4-BE49-F238E27FC236}">
                <a16:creationId xmlns:a16="http://schemas.microsoft.com/office/drawing/2014/main" id="{BC2EE682-ECC5-4D26-8A71-0E72574D18F8}"/>
              </a:ext>
            </a:extLst>
          </p:cNvPr>
          <p:cNvSpPr>
            <a:spLocks xmlns:a="http://schemas.openxmlformats.org/drawingml/2006/main" noGrp="1"/>
          </p:cNvSpPr>
          <p:nvPr/>
        </p:nvSpPr>
        <p:spPr>
          <a:xfrm xmlns:a="http://schemas.openxmlformats.org/drawingml/2006/main">
            <a:off x="8772525" y="2743200"/>
            <a:ext cx="4000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B6B658-6119-4678-8532-F292EC8B9794}"/>
              </a:ext>
            </a:extLst>
          </p:cNvPr>
          <p:cNvSpPr>
            <a:spLocks xmlns:a="http://schemas.openxmlformats.org/drawingml/2006/main" noGrp="1"/>
          </p:cNvSpPr>
          <p:nvPr/>
        </p:nvSpPr>
        <p:spPr>
          <a:xfrm xmlns:a="http://schemas.openxmlformats.org/drawingml/2006/main">
            <a:off x="9334500" y="2228850"/>
            <a:ext cx="2143125"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3" name="">
            <a:extLst xmlns:a="http://schemas.openxmlformats.org/drawingml/2006/main">
              <a:ext uri="{FF2B5EF4-FFF2-40B4-BE49-F238E27FC236}">
                <a16:creationId xmlns:a16="http://schemas.microsoft.com/office/drawing/2014/main" id="{A0EC8DC4-9DD0-468E-A486-3B90647644AF}"/>
              </a:ext>
            </a:extLst>
          </p:cNvPr>
          <p:cNvSpPr>
            <a:spLocks xmlns:a="http://schemas.openxmlformats.org/drawingml/2006/main" noGrp="1"/>
          </p:cNvSpPr>
          <p:nvPr/>
        </p:nvSpPr>
        <p:spPr>
          <a:xfrm xmlns:a="http://schemas.openxmlformats.org/drawingml/2006/main">
            <a:off x="9505950" y="2419350"/>
            <a:ext cx="1800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Consultar</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Reportes</a:t>
            </a:r>
          </a:p>
        </p:txBody>
      </p:sp>
      <p:sp>
        <p:nvSpPr>
          <p:cNvPr id="14" name="">
            <a:extLst xmlns:a="http://schemas.openxmlformats.org/drawingml/2006/main">
              <a:ext uri="{FF2B5EF4-FFF2-40B4-BE49-F238E27FC236}">
                <a16:creationId xmlns:a16="http://schemas.microsoft.com/office/drawing/2014/main" id="{42C687EF-5012-4D8B-990E-AD630A9085BB}"/>
              </a:ext>
            </a:extLst>
          </p:cNvPr>
          <p:cNvSpPr>
            <a:spLocks xmlns:a="http://schemas.openxmlformats.org/drawingml/2006/main" noGrp="1"/>
          </p:cNvSpPr>
          <p:nvPr/>
        </p:nvSpPr>
        <p:spPr>
          <a:xfrm xmlns:a="http://schemas.openxmlformats.org/drawingml/2006/main">
            <a:off x="742950"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Alimento</a:t>
            </a:r>
          </a:p>
        </p:txBody>
      </p:sp>
      <p:sp>
        <p:nvSpPr>
          <p:cNvPr id="15" name="">
            <a:extLst xmlns:a="http://schemas.openxmlformats.org/drawingml/2006/main">
              <a:ext uri="{FF2B5EF4-FFF2-40B4-BE49-F238E27FC236}">
                <a16:creationId xmlns:a16="http://schemas.microsoft.com/office/drawing/2014/main" id="{4E11B209-5521-4474-8583-29ED2B73D4C1}"/>
              </a:ext>
            </a:extLst>
          </p:cNvPr>
          <p:cNvSpPr>
            <a:spLocks xmlns:a="http://schemas.openxmlformats.org/drawingml/2006/main" noGrp="1"/>
          </p:cNvSpPr>
          <p:nvPr/>
        </p:nvSpPr>
        <p:spPr>
          <a:xfrm xmlns:a="http://schemas.openxmlformats.org/drawingml/2006/main">
            <a:off x="742950"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Ingreso, consumo y existencia</a:t>
            </a:r>
          </a:p>
        </p:txBody>
      </p:sp>
      <p:sp>
        <p:nvSpPr>
          <p:cNvPr id="16" name="">
            <a:extLst xmlns:a="http://schemas.openxmlformats.org/drawingml/2006/main">
              <a:ext uri="{FF2B5EF4-FFF2-40B4-BE49-F238E27FC236}">
                <a16:creationId xmlns:a16="http://schemas.microsoft.com/office/drawing/2014/main" id="{60892394-939E-4F35-96F2-D54BA38703BB}"/>
              </a:ext>
            </a:extLst>
          </p:cNvPr>
          <p:cNvSpPr>
            <a:spLocks xmlns:a="http://schemas.openxmlformats.org/drawingml/2006/main" noGrp="1"/>
          </p:cNvSpPr>
          <p:nvPr/>
        </p:nvSpPr>
        <p:spPr>
          <a:xfrm xmlns:a="http://schemas.openxmlformats.org/drawingml/2006/main">
            <a:off x="4448175"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Aves</a:t>
            </a:r>
          </a:p>
        </p:txBody>
      </p:sp>
      <p:sp>
        <p:nvSpPr>
          <p:cNvPr id="17" name="">
            <a:extLst xmlns:a="http://schemas.openxmlformats.org/drawingml/2006/main">
              <a:ext uri="{FF2B5EF4-FFF2-40B4-BE49-F238E27FC236}">
                <a16:creationId xmlns:a16="http://schemas.microsoft.com/office/drawing/2014/main" id="{EA46A5FF-5D97-4E2A-8171-DAEDFA746A15}"/>
              </a:ext>
            </a:extLst>
          </p:cNvPr>
          <p:cNvSpPr>
            <a:spLocks xmlns:a="http://schemas.openxmlformats.org/drawingml/2006/main" noGrp="1"/>
          </p:cNvSpPr>
          <p:nvPr/>
        </p:nvSpPr>
        <p:spPr>
          <a:xfrm xmlns:a="http://schemas.openxmlformats.org/drawingml/2006/main">
            <a:off x="4448175"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Pesajes, mortalidad y movimientos</a:t>
            </a:r>
          </a:p>
        </p:txBody>
      </p:sp>
      <p:sp>
        <p:nvSpPr>
          <p:cNvPr id="18" name="">
            <a:extLst xmlns:a="http://schemas.openxmlformats.org/drawingml/2006/main">
              <a:ext uri="{FF2B5EF4-FFF2-40B4-BE49-F238E27FC236}">
                <a16:creationId xmlns:a16="http://schemas.microsoft.com/office/drawing/2014/main" id="{04E48C5B-8554-4496-9031-AF5210A17B30}"/>
              </a:ext>
            </a:extLst>
          </p:cNvPr>
          <p:cNvSpPr>
            <a:spLocks xmlns:a="http://schemas.openxmlformats.org/drawingml/2006/main" noGrp="1"/>
          </p:cNvSpPr>
          <p:nvPr/>
        </p:nvSpPr>
        <p:spPr>
          <a:xfrm xmlns:a="http://schemas.openxmlformats.org/drawingml/2006/main">
            <a:off x="8153400" y="41338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181E"/>
                </a:solidFill>
                <a:latin typeface="Arial"/>
                <a:ea typeface="Arial"/>
                <a:cs typeface="Arial"/>
              </a:defRPr>
            </a:pPr>
            <a:r>
              <a:rPr sz="2550" b="1">
                <a:solidFill>
                  <a:srgbClr val="D2181E"/>
                </a:solidFill>
                <a:latin typeface="Arial"/>
                <a:ea typeface="Arial"/>
                <a:cs typeface="Arial"/>
              </a:rPr>
              <a:t>Huevos</a:t>
            </a:r>
          </a:p>
        </p:txBody>
      </p:sp>
      <p:sp>
        <p:nvSpPr>
          <p:cNvPr id="19" name="">
            <a:extLst xmlns:a="http://schemas.openxmlformats.org/drawingml/2006/main">
              <a:ext uri="{FF2B5EF4-FFF2-40B4-BE49-F238E27FC236}">
                <a16:creationId xmlns:a16="http://schemas.microsoft.com/office/drawing/2014/main" id="{55E9B4AE-78DF-47E4-89FB-FB9435B6792C}"/>
              </a:ext>
            </a:extLst>
          </p:cNvPr>
          <p:cNvSpPr>
            <a:spLocks xmlns:a="http://schemas.openxmlformats.org/drawingml/2006/main" noGrp="1"/>
          </p:cNvSpPr>
          <p:nvPr/>
        </p:nvSpPr>
        <p:spPr>
          <a:xfrm xmlns:a="http://schemas.openxmlformats.org/drawingml/2006/main">
            <a:off x="8153400" y="46863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Producción, clasificación y traslados</a:t>
            </a:r>
          </a:p>
        </p:txBody>
      </p:sp>
    </p:spTree>
    <p:extLst>
      <p:ext uri="{BB962C8B-B14F-4D97-AF65-F5344CB8AC3E}">
        <p14:creationId xmlns:p14="http://schemas.microsoft.com/office/powerpoint/2010/main" val="1003687971"/>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41042AE-3718-41BD-8AAB-094CEA3DC423}"/>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Arquitectura del sistema</a:t>
            </a:r>
          </a:p>
        </p:txBody>
      </p:sp>
      <p:sp>
        <p:nvSpPr>
          <p:cNvPr id="2" name="">
            <a:extLst xmlns:a="http://schemas.openxmlformats.org/drawingml/2006/main">
              <a:ext uri="{FF2B5EF4-FFF2-40B4-BE49-F238E27FC236}">
                <a16:creationId xmlns:a16="http://schemas.microsoft.com/office/drawing/2014/main" id="{3F100AFF-F1C8-4676-80EB-60731D9CBC6C}"/>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70441C0-3C1C-49FF-BF67-BC4D069B8719}"/>
              </a:ext>
            </a:extLst>
          </p:cNvPr>
          <p:cNvSpPr>
            <a:spLocks xmlns:a="http://schemas.openxmlformats.org/drawingml/2006/main" noGrp="1"/>
          </p:cNvSpPr>
          <p:nvPr/>
        </p:nvSpPr>
        <p:spPr>
          <a:xfrm xmlns:a="http://schemas.openxmlformats.org/drawingml/2006/main">
            <a:off x="704850" y="2333625"/>
            <a:ext cx="24765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DDC1E16D-9447-418C-A743-8C7E903005BB}"/>
              </a:ext>
            </a:extLst>
          </p:cNvPr>
          <p:cNvSpPr>
            <a:spLocks xmlns:a="http://schemas.openxmlformats.org/drawingml/2006/main" noGrp="1"/>
          </p:cNvSpPr>
          <p:nvPr/>
        </p:nvSpPr>
        <p:spPr>
          <a:xfrm xmlns:a="http://schemas.openxmlformats.org/drawingml/2006/main">
            <a:off x="876300" y="2524125"/>
            <a:ext cx="2133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Aplicación web</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Angular 22</a:t>
            </a:r>
          </a:p>
        </p:txBody>
      </p:sp>
      <p:sp>
        <p:nvSpPr>
          <p:cNvPr id="5" name="">
            <a:extLst xmlns:a="http://schemas.openxmlformats.org/drawingml/2006/main">
              <a:ext uri="{FF2B5EF4-FFF2-40B4-BE49-F238E27FC236}">
                <a16:creationId xmlns:a16="http://schemas.microsoft.com/office/drawing/2014/main" id="{53968BD1-612D-47BD-90EC-F73F6A401F33}"/>
              </a:ext>
            </a:extLst>
          </p:cNvPr>
          <p:cNvSpPr>
            <a:spLocks xmlns:a="http://schemas.openxmlformats.org/drawingml/2006/main" noGrp="1"/>
          </p:cNvSpPr>
          <p:nvPr/>
        </p:nvSpPr>
        <p:spPr>
          <a:xfrm xmlns:a="http://schemas.openxmlformats.org/drawingml/2006/main">
            <a:off x="3343275" y="2819400"/>
            <a:ext cx="4572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10D7CB-79BB-4A08-BE75-C847FD31A5EC}"/>
              </a:ext>
            </a:extLst>
          </p:cNvPr>
          <p:cNvSpPr>
            <a:spLocks xmlns:a="http://schemas.openxmlformats.org/drawingml/2006/main" noGrp="1"/>
          </p:cNvSpPr>
          <p:nvPr/>
        </p:nvSpPr>
        <p:spPr>
          <a:xfrm xmlns:a="http://schemas.openxmlformats.org/drawingml/2006/main">
            <a:off x="4000500" y="2333625"/>
            <a:ext cx="31432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DD8AEEDB-3278-4F4E-BF32-21E1E9A330E3}"/>
              </a:ext>
            </a:extLst>
          </p:cNvPr>
          <p:cNvSpPr>
            <a:spLocks xmlns:a="http://schemas.openxmlformats.org/drawingml/2006/main" noGrp="1"/>
          </p:cNvSpPr>
          <p:nvPr/>
        </p:nvSpPr>
        <p:spPr>
          <a:xfrm xmlns:a="http://schemas.openxmlformats.org/drawingml/2006/main">
            <a:off x="4171950" y="2524125"/>
            <a:ext cx="28003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Servicios centrales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API .NET 10</a:t>
            </a:r>
          </a:p>
        </p:txBody>
      </p:sp>
      <p:sp>
        <p:nvSpPr>
          <p:cNvPr id="8" name="">
            <a:extLst xmlns:a="http://schemas.openxmlformats.org/drawingml/2006/main">
              <a:ext uri="{FF2B5EF4-FFF2-40B4-BE49-F238E27FC236}">
                <a16:creationId xmlns:a16="http://schemas.microsoft.com/office/drawing/2014/main" id="{C5D8698A-7F00-49C8-AD4F-CC537FCAED54}"/>
              </a:ext>
            </a:extLst>
          </p:cNvPr>
          <p:cNvSpPr>
            <a:spLocks xmlns:a="http://schemas.openxmlformats.org/drawingml/2006/main" noGrp="1"/>
          </p:cNvSpPr>
          <p:nvPr/>
        </p:nvSpPr>
        <p:spPr>
          <a:xfrm xmlns:a="http://schemas.openxmlformats.org/drawingml/2006/main">
            <a:off x="7334250" y="2819400"/>
            <a:ext cx="4572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808EBD-1A5D-4E55-ABDA-91CD3D52AEC8}"/>
              </a:ext>
            </a:extLst>
          </p:cNvPr>
          <p:cNvSpPr>
            <a:spLocks xmlns:a="http://schemas.openxmlformats.org/drawingml/2006/main" noGrp="1"/>
          </p:cNvSpPr>
          <p:nvPr/>
        </p:nvSpPr>
        <p:spPr>
          <a:xfrm xmlns:a="http://schemas.openxmlformats.org/drawingml/2006/main">
            <a:off x="8029575" y="2333625"/>
            <a:ext cx="33813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9D4EBFDA-8302-4FDF-9499-15495C870019}"/>
              </a:ext>
            </a:extLst>
          </p:cNvPr>
          <p:cNvSpPr>
            <a:spLocks xmlns:a="http://schemas.openxmlformats.org/drawingml/2006/main" noGrp="1"/>
          </p:cNvSpPr>
          <p:nvPr/>
        </p:nvSpPr>
        <p:spPr>
          <a:xfrm xmlns:a="http://schemas.openxmlformats.org/drawingml/2006/main">
            <a:off x="8201025" y="2524125"/>
            <a:ext cx="3038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Datos centrales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PostgreSQL</a:t>
            </a:r>
          </a:p>
        </p:txBody>
      </p:sp>
      <p:sp>
        <p:nvSpPr>
          <p:cNvPr id="11" name="">
            <a:extLst xmlns:a="http://schemas.openxmlformats.org/drawingml/2006/main">
              <a:ext uri="{FF2B5EF4-FFF2-40B4-BE49-F238E27FC236}">
                <a16:creationId xmlns:a16="http://schemas.microsoft.com/office/drawing/2014/main" id="{3C48A54D-7C98-44E8-B962-992A083A564D}"/>
              </a:ext>
            </a:extLst>
          </p:cNvPr>
          <p:cNvSpPr>
            <a:spLocks xmlns:a="http://schemas.openxmlformats.org/drawingml/2006/main" noGrp="1"/>
          </p:cNvSpPr>
          <p:nvPr/>
        </p:nvSpPr>
        <p:spPr>
          <a:xfrm xmlns:a="http://schemas.openxmlformats.org/drawingml/2006/main">
            <a:off x="704850" y="385762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Usuarios y permisos</a:t>
            </a:r>
          </a:p>
        </p:txBody>
      </p:sp>
      <p:sp>
        <p:nvSpPr>
          <p:cNvPr id="12" name="">
            <a:extLst xmlns:a="http://schemas.openxmlformats.org/drawingml/2006/main">
              <a:ext uri="{FF2B5EF4-FFF2-40B4-BE49-F238E27FC236}">
                <a16:creationId xmlns:a16="http://schemas.microsoft.com/office/drawing/2014/main" id="{C56919A5-69DA-4284-A9F8-675539514DA5}"/>
              </a:ext>
            </a:extLst>
          </p:cNvPr>
          <p:cNvSpPr>
            <a:spLocks xmlns:a="http://schemas.openxmlformats.org/drawingml/2006/main" noGrp="1"/>
          </p:cNvSpPr>
          <p:nvPr/>
        </p:nvSpPr>
        <p:spPr>
          <a:xfrm xmlns:a="http://schemas.openxmlformats.org/drawingml/2006/main">
            <a:off x="704850" y="4400550"/>
            <a:ext cx="276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Pantallas, formularios</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y reportes</a:t>
            </a:r>
          </a:p>
        </p:txBody>
      </p:sp>
      <p:sp>
        <p:nvSpPr>
          <p:cNvPr id="13" name="">
            <a:extLst xmlns:a="http://schemas.openxmlformats.org/drawingml/2006/main">
              <a:ext uri="{FF2B5EF4-FFF2-40B4-BE49-F238E27FC236}">
                <a16:creationId xmlns:a16="http://schemas.microsoft.com/office/drawing/2014/main" id="{77E583BB-240E-4597-A50A-B2C3C04CF4A1}"/>
              </a:ext>
            </a:extLst>
          </p:cNvPr>
          <p:cNvSpPr>
            <a:spLocks xmlns:a="http://schemas.openxmlformats.org/drawingml/2006/main" noGrp="1"/>
          </p:cNvSpPr>
          <p:nvPr/>
        </p:nvSpPr>
        <p:spPr>
          <a:xfrm xmlns:a="http://schemas.openxmlformats.org/drawingml/2006/main">
            <a:off x="4000500" y="3857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Reglas de operación</a:t>
            </a:r>
          </a:p>
        </p:txBody>
      </p:sp>
      <p:sp>
        <p:nvSpPr>
          <p:cNvPr id="14" name="">
            <a:extLst xmlns:a="http://schemas.openxmlformats.org/drawingml/2006/main">
              <a:ext uri="{FF2B5EF4-FFF2-40B4-BE49-F238E27FC236}">
                <a16:creationId xmlns:a16="http://schemas.microsoft.com/office/drawing/2014/main" id="{6F871517-C703-4759-A33B-B7BAFB74743F}"/>
              </a:ext>
            </a:extLst>
          </p:cNvPr>
          <p:cNvSpPr>
            <a:spLocks xmlns:a="http://schemas.openxmlformats.org/drawingml/2006/main" noGrp="1"/>
          </p:cNvSpPr>
          <p:nvPr/>
        </p:nvSpPr>
        <p:spPr>
          <a:xfrm xmlns:a="http://schemas.openxmlformats.org/drawingml/2006/main">
            <a:off x="4000500" y="44005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Validación y procesamiento</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con acceso por empresa</a:t>
            </a:r>
          </a:p>
        </p:txBody>
      </p:sp>
      <p:sp>
        <p:nvSpPr>
          <p:cNvPr id="15" name="">
            <a:extLst xmlns:a="http://schemas.openxmlformats.org/drawingml/2006/main">
              <a:ext uri="{FF2B5EF4-FFF2-40B4-BE49-F238E27FC236}">
                <a16:creationId xmlns:a16="http://schemas.microsoft.com/office/drawing/2014/main" id="{86497A2C-93E0-467B-90C1-474DC6516C4F}"/>
              </a:ext>
            </a:extLst>
          </p:cNvPr>
          <p:cNvSpPr>
            <a:spLocks xmlns:a="http://schemas.openxmlformats.org/drawingml/2006/main" noGrp="1"/>
          </p:cNvSpPr>
          <p:nvPr/>
        </p:nvSpPr>
        <p:spPr>
          <a:xfrm xmlns:a="http://schemas.openxmlformats.org/drawingml/2006/main">
            <a:off x="8029575" y="385762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Trazabilidad</a:t>
            </a:r>
          </a:p>
        </p:txBody>
      </p:sp>
      <p:sp>
        <p:nvSpPr>
          <p:cNvPr id="16" name="">
            <a:extLst xmlns:a="http://schemas.openxmlformats.org/drawingml/2006/main">
              <a:ext uri="{FF2B5EF4-FFF2-40B4-BE49-F238E27FC236}">
                <a16:creationId xmlns:a16="http://schemas.microsoft.com/office/drawing/2014/main" id="{71FFEC75-9D25-4C80-9137-0594A240B253}"/>
              </a:ext>
            </a:extLst>
          </p:cNvPr>
          <p:cNvSpPr>
            <a:spLocks xmlns:a="http://schemas.openxmlformats.org/drawingml/2006/main" noGrp="1"/>
          </p:cNvSpPr>
          <p:nvPr/>
        </p:nvSpPr>
        <p:spPr>
          <a:xfrm xmlns:a="http://schemas.openxmlformats.org/drawingml/2006/main">
            <a:off x="8029575" y="44005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Registros y consultas</a:t>
            </a:r>
          </a:p>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compartidos por los servicios</a:t>
            </a:r>
          </a:p>
        </p:txBody>
      </p:sp>
      <p:sp>
        <p:nvSpPr>
          <p:cNvPr id="17" name="">
            <a:extLst xmlns:a="http://schemas.openxmlformats.org/drawingml/2006/main">
              <a:ext uri="{FF2B5EF4-FFF2-40B4-BE49-F238E27FC236}">
                <a16:creationId xmlns:a16="http://schemas.microsoft.com/office/drawing/2014/main" id="{5B8328EE-7D57-4DAD-B73A-68EC54905CA8}"/>
              </a:ext>
            </a:extLst>
          </p:cNvPr>
          <p:cNvSpPr>
            <a:spLocks xmlns:a="http://schemas.openxmlformats.org/drawingml/2006/main" noGrp="1"/>
          </p:cNvSpPr>
          <p:nvPr/>
        </p:nvSpPr>
        <p:spPr>
          <a:xfrm xmlns:a="http://schemas.openxmlformats.org/drawingml/2006/main">
            <a:off x="704850" y="5600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AWS: ECS y Nginx para la aplicación, RDS para los datos</a:t>
            </a:r>
          </a:p>
        </p:txBody>
      </p:sp>
    </p:spTree>
    <p:extLst>
      <p:ext uri="{BB962C8B-B14F-4D97-AF65-F5344CB8AC3E}">
        <p14:creationId xmlns:p14="http://schemas.microsoft.com/office/powerpoint/2010/main" val="168242001"/>
      </p:ext>
    </p:extLst>
  </p:cSld>
</p:sld>
</file>

<file path=ppt/slides/slide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2AC8B6-CEAE-430F-9108-E100C257E633}"/>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Arquitectura de la aplicación en AWS</a:t>
            </a:r>
          </a:p>
        </p:txBody>
      </p:sp>
      <p:sp>
        <p:nvSpPr>
          <p:cNvPr id="2" name="">
            <a:extLst xmlns:a="http://schemas.openxmlformats.org/drawingml/2006/main">
              <a:ext uri="{FF2B5EF4-FFF2-40B4-BE49-F238E27FC236}">
                <a16:creationId xmlns:a16="http://schemas.microsoft.com/office/drawing/2014/main" id="{A7608D09-4CFB-442E-BDA2-88A77D2AF1BE}"/>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6FE1972-A73D-47C3-A18C-6B0B9AAFA31E}"/>
              </a:ext>
            </a:extLst>
          </p:cNvPr>
          <p:cNvSpPr>
            <a:spLocks xmlns:a="http://schemas.openxmlformats.org/drawingml/2006/main" noGrp="1"/>
          </p:cNvSpPr>
          <p:nvPr/>
        </p:nvSpPr>
        <p:spPr>
          <a:xfrm xmlns:a="http://schemas.openxmlformats.org/drawingml/2006/main">
            <a:off x="742950" y="16764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Acceso web</a:t>
            </a:r>
          </a:p>
        </p:txBody>
      </p:sp>
      <p:sp>
        <p:nvSpPr>
          <p:cNvPr id="4" name="">
            <a:extLst xmlns:a="http://schemas.openxmlformats.org/drawingml/2006/main">
              <a:ext uri="{FF2B5EF4-FFF2-40B4-BE49-F238E27FC236}">
                <a16:creationId xmlns:a16="http://schemas.microsoft.com/office/drawing/2014/main" id="{27AE3F2A-C65F-44A1-9DAF-BA7A73D74053}"/>
              </a:ext>
            </a:extLst>
          </p:cNvPr>
          <p:cNvSpPr>
            <a:spLocks xmlns:a="http://schemas.openxmlformats.org/drawingml/2006/main" noGrp="1"/>
          </p:cNvSpPr>
          <p:nvPr/>
        </p:nvSpPr>
        <p:spPr>
          <a:xfrm xmlns:a="http://schemas.openxmlformats.org/drawingml/2006/main">
            <a:off x="3257550" y="167640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AWS us-east-2</a:t>
            </a:r>
          </a:p>
        </p:txBody>
      </p:sp>
      <p:sp>
        <p:nvSpPr>
          <p:cNvPr id="5" name="">
            <a:extLst xmlns:a="http://schemas.openxmlformats.org/drawingml/2006/main">
              <a:ext uri="{FF2B5EF4-FFF2-40B4-BE49-F238E27FC236}">
                <a16:creationId xmlns:a16="http://schemas.microsoft.com/office/drawing/2014/main" id="{C6913546-CE51-4F43-9F1E-FA7CB2C8BF58}"/>
              </a:ext>
            </a:extLst>
          </p:cNvPr>
          <p:cNvSpPr>
            <a:spLocks xmlns:a="http://schemas.openxmlformats.org/drawingml/2006/main" noGrp="1"/>
          </p:cNvSpPr>
          <p:nvPr/>
        </p:nvSpPr>
        <p:spPr>
          <a:xfrm xmlns:a="http://schemas.openxmlformats.org/drawingml/2006/main">
            <a:off x="9344025" y="167640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181E"/>
                </a:solidFill>
                <a:latin typeface="Arial"/>
                <a:ea typeface="Arial"/>
                <a:cs typeface="Arial"/>
              </a:defRPr>
            </a:pPr>
            <a:r>
              <a:rPr sz="2025" b="1">
                <a:solidFill>
                  <a:srgbClr val="D2181E"/>
                </a:solidFill>
                <a:latin typeface="Arial"/>
                <a:ea typeface="Arial"/>
                <a:cs typeface="Arial"/>
              </a:rPr>
              <a:t>AWS us-east-1</a:t>
            </a:r>
          </a:p>
        </p:txBody>
      </p:sp>
      <p:sp>
        <p:nvSpPr>
          <p:cNvPr id="6" name="">
            <a:extLst xmlns:a="http://schemas.openxmlformats.org/drawingml/2006/main">
              <a:ext uri="{FF2B5EF4-FFF2-40B4-BE49-F238E27FC236}">
                <a16:creationId xmlns:a16="http://schemas.microsoft.com/office/drawing/2014/main" id="{C2A447CE-69A0-4393-93F1-CB215971DF75}"/>
              </a:ext>
            </a:extLst>
          </p:cNvPr>
          <p:cNvSpPr>
            <a:spLocks xmlns:a="http://schemas.openxmlformats.org/drawingml/2006/main" noGrp="1"/>
          </p:cNvSpPr>
          <p:nvPr/>
        </p:nvSpPr>
        <p:spPr>
          <a:xfrm xmlns:a="http://schemas.openxmlformats.org/drawingml/2006/main">
            <a:off x="704850" y="3000375"/>
            <a:ext cx="18669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63496E9D-1CBA-4C7A-88D7-E7A20146D055}"/>
              </a:ext>
            </a:extLst>
          </p:cNvPr>
          <p:cNvSpPr>
            <a:spLocks xmlns:a="http://schemas.openxmlformats.org/drawingml/2006/main" noGrp="1"/>
          </p:cNvSpPr>
          <p:nvPr/>
        </p:nvSpPr>
        <p:spPr>
          <a:xfrm xmlns:a="http://schemas.openxmlformats.org/drawingml/2006/main">
            <a:off x="876300" y="3190875"/>
            <a:ext cx="152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Usuarios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Navegador</a:t>
            </a:r>
          </a:p>
        </p:txBody>
      </p:sp>
      <p:sp>
        <p:nvSpPr>
          <p:cNvPr id="8" name="">
            <a:extLst xmlns:a="http://schemas.openxmlformats.org/drawingml/2006/main">
              <a:ext uri="{FF2B5EF4-FFF2-40B4-BE49-F238E27FC236}">
                <a16:creationId xmlns:a16="http://schemas.microsoft.com/office/drawing/2014/main" id="{8665DF24-7744-458A-BF5D-1E84F83F97A8}"/>
              </a:ext>
            </a:extLst>
          </p:cNvPr>
          <p:cNvSpPr>
            <a:spLocks xmlns:a="http://schemas.openxmlformats.org/drawingml/2006/main" noGrp="1"/>
          </p:cNvSpPr>
          <p:nvPr/>
        </p:nvSpPr>
        <p:spPr>
          <a:xfrm xmlns:a="http://schemas.openxmlformats.org/drawingml/2006/main">
            <a:off x="3352800" y="3000375"/>
            <a:ext cx="2171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9" name="">
            <a:extLst xmlns:a="http://schemas.openxmlformats.org/drawingml/2006/main">
              <a:ext uri="{FF2B5EF4-FFF2-40B4-BE49-F238E27FC236}">
                <a16:creationId xmlns:a16="http://schemas.microsoft.com/office/drawing/2014/main" id="{ECB0150F-9F7B-4151-9272-588817EBF03B}"/>
              </a:ext>
            </a:extLst>
          </p:cNvPr>
          <p:cNvSpPr>
            <a:spLocks xmlns:a="http://schemas.openxmlformats.org/drawingml/2006/main" noGrp="1"/>
          </p:cNvSpPr>
          <p:nvPr/>
        </p:nvSpPr>
        <p:spPr>
          <a:xfrm xmlns:a="http://schemas.openxmlformats.org/drawingml/2006/main">
            <a:off x="3524250" y="3190875"/>
            <a:ext cx="1828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Amazon ALB</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HTTPS</a:t>
            </a:r>
          </a:p>
        </p:txBody>
      </p:sp>
      <p:sp>
        <p:nvSpPr>
          <p:cNvPr id="10" name="">
            <a:extLst xmlns:a="http://schemas.openxmlformats.org/drawingml/2006/main">
              <a:ext uri="{FF2B5EF4-FFF2-40B4-BE49-F238E27FC236}">
                <a16:creationId xmlns:a16="http://schemas.microsoft.com/office/drawing/2014/main" id="{9A20B74C-1493-42FF-AAAA-C5A9B682E23B}"/>
              </a:ext>
            </a:extLst>
          </p:cNvPr>
          <p:cNvSpPr>
            <a:spLocks xmlns:a="http://schemas.openxmlformats.org/drawingml/2006/main" noGrp="1"/>
          </p:cNvSpPr>
          <p:nvPr/>
        </p:nvSpPr>
        <p:spPr>
          <a:xfrm xmlns:a="http://schemas.openxmlformats.org/drawingml/2006/main">
            <a:off x="6438900" y="2286000"/>
            <a:ext cx="24288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1" name="">
            <a:extLst xmlns:a="http://schemas.openxmlformats.org/drawingml/2006/main">
              <a:ext uri="{FF2B5EF4-FFF2-40B4-BE49-F238E27FC236}">
                <a16:creationId xmlns:a16="http://schemas.microsoft.com/office/drawing/2014/main" id="{E1A48FE2-8EAE-4794-AAA1-79BCF0EF26E0}"/>
              </a:ext>
            </a:extLst>
          </p:cNvPr>
          <p:cNvSpPr>
            <a:spLocks xmlns:a="http://schemas.openxmlformats.org/drawingml/2006/main" noGrp="1"/>
          </p:cNvSpPr>
          <p:nvPr/>
        </p:nvSpPr>
        <p:spPr>
          <a:xfrm xmlns:a="http://schemas.openxmlformats.org/drawingml/2006/main">
            <a:off x="6610350" y="2476500"/>
            <a:ext cx="20859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ECS web</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Nginx / Angular</a:t>
            </a:r>
          </a:p>
        </p:txBody>
      </p:sp>
      <p:sp>
        <p:nvSpPr>
          <p:cNvPr id="12" name="">
            <a:extLst xmlns:a="http://schemas.openxmlformats.org/drawingml/2006/main">
              <a:ext uri="{FF2B5EF4-FFF2-40B4-BE49-F238E27FC236}">
                <a16:creationId xmlns:a16="http://schemas.microsoft.com/office/drawing/2014/main" id="{ACDB9115-F901-416D-985A-1DE972AA772A}"/>
              </a:ext>
            </a:extLst>
          </p:cNvPr>
          <p:cNvSpPr>
            <a:spLocks xmlns:a="http://schemas.openxmlformats.org/drawingml/2006/main" noGrp="1"/>
          </p:cNvSpPr>
          <p:nvPr/>
        </p:nvSpPr>
        <p:spPr>
          <a:xfrm xmlns:a="http://schemas.openxmlformats.org/drawingml/2006/main">
            <a:off x="6438900" y="4362450"/>
            <a:ext cx="24288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3" name="">
            <a:extLst xmlns:a="http://schemas.openxmlformats.org/drawingml/2006/main">
              <a:ext uri="{FF2B5EF4-FFF2-40B4-BE49-F238E27FC236}">
                <a16:creationId xmlns:a16="http://schemas.microsoft.com/office/drawing/2014/main" id="{3048E85C-3E6F-4E26-A49A-BB3DDF01D06A}"/>
              </a:ext>
            </a:extLst>
          </p:cNvPr>
          <p:cNvSpPr>
            <a:spLocks xmlns:a="http://schemas.openxmlformats.org/drawingml/2006/main" noGrp="1"/>
          </p:cNvSpPr>
          <p:nvPr/>
        </p:nvSpPr>
        <p:spPr>
          <a:xfrm xmlns:a="http://schemas.openxmlformats.org/drawingml/2006/main">
            <a:off x="6610350" y="4552950"/>
            <a:ext cx="20859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ECS backend</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API .NET 10</a:t>
            </a:r>
          </a:p>
        </p:txBody>
      </p:sp>
      <p:sp>
        <p:nvSpPr>
          <p:cNvPr id="14" name="">
            <a:extLst xmlns:a="http://schemas.openxmlformats.org/drawingml/2006/main">
              <a:ext uri="{FF2B5EF4-FFF2-40B4-BE49-F238E27FC236}">
                <a16:creationId xmlns:a16="http://schemas.microsoft.com/office/drawing/2014/main" id="{1E56B05F-C215-46F9-ACE1-1EB0A96C3001}"/>
              </a:ext>
            </a:extLst>
          </p:cNvPr>
          <p:cNvSpPr>
            <a:spLocks xmlns:a="http://schemas.openxmlformats.org/drawingml/2006/main" noGrp="1"/>
          </p:cNvSpPr>
          <p:nvPr/>
        </p:nvSpPr>
        <p:spPr>
          <a:xfrm xmlns:a="http://schemas.openxmlformats.org/drawingml/2006/main">
            <a:off x="9620250" y="4362450"/>
            <a:ext cx="205740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5" name="">
            <a:extLst xmlns:a="http://schemas.openxmlformats.org/drawingml/2006/main">
              <a:ext uri="{FF2B5EF4-FFF2-40B4-BE49-F238E27FC236}">
                <a16:creationId xmlns:a16="http://schemas.microsoft.com/office/drawing/2014/main" id="{6096B184-A6C5-448E-9312-28C3D3E873A1}"/>
              </a:ext>
            </a:extLst>
          </p:cNvPr>
          <p:cNvSpPr>
            <a:spLocks xmlns:a="http://schemas.openxmlformats.org/drawingml/2006/main" noGrp="1"/>
          </p:cNvSpPr>
          <p:nvPr/>
        </p:nvSpPr>
        <p:spPr>
          <a:xfrm xmlns:a="http://schemas.openxmlformats.org/drawingml/2006/main">
            <a:off x="9791700" y="4552950"/>
            <a:ext cx="1714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RDS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PostgreSQL</a:t>
            </a:r>
          </a:p>
        </p:txBody>
      </p:sp>
      <p:sp>
        <p:nvSpPr>
          <p:cNvPr id="16" name="">
            <a:extLst xmlns:a="http://schemas.openxmlformats.org/drawingml/2006/main">
              <a:ext uri="{FF2B5EF4-FFF2-40B4-BE49-F238E27FC236}">
                <a16:creationId xmlns:a16="http://schemas.microsoft.com/office/drawing/2014/main" id="{A6AD47A2-F4A4-4BC4-9303-51C081C4F48A}"/>
              </a:ext>
            </a:extLst>
          </p:cNvPr>
          <p:cNvSpPr>
            <a:spLocks xmlns:a="http://schemas.openxmlformats.org/drawingml/2006/main" noGrp="1"/>
          </p:cNvSpPr>
          <p:nvPr/>
        </p:nvSpPr>
        <p:spPr>
          <a:xfrm xmlns:a="http://schemas.openxmlformats.org/drawingml/2006/main">
            <a:off x="2800350" y="3429000"/>
            <a:ext cx="3810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cxnSp>
        <p:nvCxnSpPr>
          <p:cNvPr id="39" name=""/>
          <p:cNvCxnSpPr>
            <a:stCxn xmlns:a="http://schemas.openxmlformats.org/drawingml/2006/main" id="8" idx="3"/>
            <a:endCxn xmlns:a="http://schemas.openxmlformats.org/drawingml/2006/main" id="10" idx="1"/>
          </p:cNvCxnSpPr>
          <p:nvPr/>
        </p:nvCxnSpPr>
        <p:spPr>
          <a:xfrm xmlns:a="http://schemas.openxmlformats.org/drawingml/2006/main" flipV="1">
            <a:off x="5524500" y="2828925"/>
            <a:ext cx="914400" cy="704850"/>
          </a:xfrm>
          <a:prstGeom xmlns:a="http://schemas.openxmlformats.org/drawingml/2006/main" prst="bentConnector3">
            <a:avLst>
              <a:gd name="adj1" fmla="val 50000"/>
            </a:avLst>
          </a:prstGeom>
          <a:ln xmlns:a="http://schemas.openxmlformats.org/drawingml/2006/main" w="28575">
            <a:solidFill>
              <a:srgbClr val="E85C25"/>
            </a:solidFill>
            <a:tailEnd type="triangle" w="sm" len="sm"/>
          </a:ln>
        </p:spPr>
      </p:cxnSp>
      <p:cxnSp>
        <p:nvCxnSpPr>
          <p:cNvPr id="40" name=""/>
          <p:cNvCxnSpPr>
            <a:stCxn xmlns:a="http://schemas.openxmlformats.org/drawingml/2006/main" id="8" idx="2"/>
            <a:endCxn xmlns:a="http://schemas.openxmlformats.org/drawingml/2006/main" id="12" idx="1"/>
          </p:cNvCxnSpPr>
          <p:nvPr/>
        </p:nvCxnSpPr>
        <p:spPr>
          <a:xfrm xmlns:a="http://schemas.openxmlformats.org/drawingml/2006/main">
            <a:off x="4438650" y="4067175"/>
            <a:ext cx="2000250" cy="838200"/>
          </a:xfrm>
          <a:prstGeom xmlns:a="http://schemas.openxmlformats.org/drawingml/2006/main" prst="bentConnector5">
            <a:avLst>
              <a:gd name="adj1" fmla="val 0"/>
              <a:gd name="adj2" fmla="val 27273"/>
              <a:gd name="adj3" fmla="val 88571"/>
            </a:avLst>
          </a:prstGeom>
          <a:ln xmlns:a="http://schemas.openxmlformats.org/drawingml/2006/main" w="28575">
            <a:solidFill>
              <a:srgbClr val="E85C25"/>
            </a:solidFill>
            <a:tailEnd type="triangle" w="sm" len="sm"/>
          </a:ln>
        </p:spPr>
      </p:cxnSp>
      <p:sp>
        <p:nvSpPr>
          <p:cNvPr id="19" name="">
            <a:extLst xmlns:a="http://schemas.openxmlformats.org/drawingml/2006/main">
              <a:ext uri="{FF2B5EF4-FFF2-40B4-BE49-F238E27FC236}">
                <a16:creationId xmlns:a16="http://schemas.microsoft.com/office/drawing/2014/main" id="{718EDC42-40F6-4131-886A-0720FD404B4F}"/>
              </a:ext>
            </a:extLst>
          </p:cNvPr>
          <p:cNvSpPr>
            <a:spLocks xmlns:a="http://schemas.openxmlformats.org/drawingml/2006/main" noGrp="1"/>
          </p:cNvSpPr>
          <p:nvPr/>
        </p:nvSpPr>
        <p:spPr>
          <a:xfrm xmlns:a="http://schemas.openxmlformats.org/drawingml/2006/main">
            <a:off x="9077325" y="4800600"/>
            <a:ext cx="3238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5620EA3-B44E-4A51-A906-F97C9CC0ED6E}"/>
              </a:ext>
            </a:extLst>
          </p:cNvPr>
          <p:cNvSpPr>
            <a:spLocks xmlns:a="http://schemas.openxmlformats.org/drawingml/2006/main" noGrp="1"/>
          </p:cNvSpPr>
          <p:nvPr/>
        </p:nvSpPr>
        <p:spPr>
          <a:xfrm xmlns:a="http://schemas.openxmlformats.org/drawingml/2006/main">
            <a:off x="5638800" y="2352675"/>
            <a:ext cx="66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2696D"/>
                </a:solidFill>
                <a:latin typeface="Arial"/>
                <a:ea typeface="Arial"/>
                <a:cs typeface="Arial"/>
              </a:defRPr>
            </a:pPr>
            <a:r>
              <a:rPr sz="1650" b="1">
                <a:solidFill>
                  <a:srgbClr val="62696D"/>
                </a:solidFill>
                <a:latin typeface="Arial"/>
                <a:ea typeface="Arial"/>
                <a:cs typeface="Arial"/>
              </a:rPr>
              <a:t>Web</a:t>
            </a:r>
          </a:p>
        </p:txBody>
      </p:sp>
      <p:sp>
        <p:nvSpPr>
          <p:cNvPr id="21" name="">
            <a:extLst xmlns:a="http://schemas.openxmlformats.org/drawingml/2006/main">
              <a:ext uri="{FF2B5EF4-FFF2-40B4-BE49-F238E27FC236}">
                <a16:creationId xmlns:a16="http://schemas.microsoft.com/office/drawing/2014/main" id="{D16F8FF0-B24A-4E8A-81BD-78E5A3163904}"/>
              </a:ext>
            </a:extLst>
          </p:cNvPr>
          <p:cNvSpPr>
            <a:spLocks xmlns:a="http://schemas.openxmlformats.org/drawingml/2006/main" noGrp="1"/>
          </p:cNvSpPr>
          <p:nvPr/>
        </p:nvSpPr>
        <p:spPr>
          <a:xfrm xmlns:a="http://schemas.openxmlformats.org/drawingml/2006/main">
            <a:off x="5581650" y="5086350"/>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2696D"/>
                </a:solidFill>
                <a:latin typeface="Arial"/>
                <a:ea typeface="Arial"/>
                <a:cs typeface="Arial"/>
              </a:defRPr>
            </a:pPr>
            <a:r>
              <a:rPr sz="1650" b="1">
                <a:solidFill>
                  <a:srgbClr val="62696D"/>
                </a:solidFill>
                <a:latin typeface="Arial"/>
                <a:ea typeface="Arial"/>
                <a:cs typeface="Arial"/>
              </a:rPr>
              <a:t>/api/*</a:t>
            </a:r>
          </a:p>
        </p:txBody>
      </p:sp>
      <p:sp>
        <p:nvSpPr>
          <p:cNvPr id="22" name="">
            <a:extLst xmlns:a="http://schemas.openxmlformats.org/drawingml/2006/main">
              <a:ext uri="{FF2B5EF4-FFF2-40B4-BE49-F238E27FC236}">
                <a16:creationId xmlns:a16="http://schemas.microsoft.com/office/drawing/2014/main" id="{B1FD4F34-1A89-45A4-8A71-54ACF2098FB7}"/>
              </a:ext>
            </a:extLst>
          </p:cNvPr>
          <p:cNvSpPr>
            <a:spLocks xmlns:a="http://schemas.openxmlformats.org/drawingml/2006/main" noGrp="1"/>
          </p:cNvSpPr>
          <p:nvPr/>
        </p:nvSpPr>
        <p:spPr>
          <a:xfrm xmlns:a="http://schemas.openxmlformats.org/drawingml/2006/main">
            <a:off x="733425" y="5838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El ALB distribuye las solicitudes. Solo la API accede a los datos.</a:t>
            </a:r>
          </a:p>
        </p:txBody>
      </p:sp>
    </p:spTree>
    <p:extLst>
      <p:ext uri="{BB962C8B-B14F-4D97-AF65-F5344CB8AC3E}">
        <p14:creationId xmlns:p14="http://schemas.microsoft.com/office/powerpoint/2010/main" val="423612497"/>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9FC2B89-61DA-4BF0-895A-2C9342B71749}"/>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CI/CD: cómo publicamos cada versión</a:t>
            </a:r>
          </a:p>
        </p:txBody>
      </p:sp>
      <p:sp>
        <p:nvSpPr>
          <p:cNvPr id="2" name="">
            <a:extLst xmlns:a="http://schemas.openxmlformats.org/drawingml/2006/main">
              <a:ext uri="{FF2B5EF4-FFF2-40B4-BE49-F238E27FC236}">
                <a16:creationId xmlns:a16="http://schemas.microsoft.com/office/drawing/2014/main" id="{5C439303-8DB6-4186-B6DB-7B286F5BD24F}"/>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094BACD-A359-4F1F-8862-39CF250ABD74}"/>
              </a:ext>
            </a:extLst>
          </p:cNvPr>
          <p:cNvSpPr>
            <a:spLocks xmlns:a="http://schemas.openxmlformats.org/drawingml/2006/main" noGrp="1"/>
          </p:cNvSpPr>
          <p:nvPr/>
        </p:nvSpPr>
        <p:spPr>
          <a:xfrm xmlns:a="http://schemas.openxmlformats.org/drawingml/2006/main">
            <a:off x="733425" y="15525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96D"/>
                </a:solidFill>
                <a:latin typeface="Arial"/>
                <a:ea typeface="Arial"/>
                <a:cs typeface="Arial"/>
              </a:defRPr>
            </a:pPr>
            <a:r>
              <a:rPr sz="1950" b="0">
                <a:solidFill>
                  <a:srgbClr val="62696D"/>
                </a:solidFill>
                <a:latin typeface="Arial"/>
                <a:ea typeface="Arial"/>
                <a:cs typeface="Arial"/>
              </a:rPr>
              <a:t>Publicación automática tras un push o merge a main-produccion</a:t>
            </a:r>
          </a:p>
        </p:txBody>
      </p:sp>
      <p:sp>
        <p:nvSpPr>
          <p:cNvPr id="4" name="">
            <a:extLst xmlns:a="http://schemas.openxmlformats.org/drawingml/2006/main">
              <a:ext uri="{FF2B5EF4-FFF2-40B4-BE49-F238E27FC236}">
                <a16:creationId xmlns:a16="http://schemas.microsoft.com/office/drawing/2014/main" id="{C9371F6F-23D8-405E-B0FB-35F0AD65BC34}"/>
              </a:ext>
            </a:extLst>
          </p:cNvPr>
          <p:cNvSpPr>
            <a:spLocks xmlns:a="http://schemas.openxmlformats.org/drawingml/2006/main" noGrp="1"/>
          </p:cNvSpPr>
          <p:nvPr/>
        </p:nvSpPr>
        <p:spPr>
          <a:xfrm xmlns:a="http://schemas.openxmlformats.org/drawingml/2006/main">
            <a:off x="704850" y="2095500"/>
            <a:ext cx="19240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5" name="">
            <a:extLst xmlns:a="http://schemas.openxmlformats.org/drawingml/2006/main">
              <a:ext uri="{FF2B5EF4-FFF2-40B4-BE49-F238E27FC236}">
                <a16:creationId xmlns:a16="http://schemas.microsoft.com/office/drawing/2014/main" id="{B1EAC55E-75F5-4BFC-975C-3186211FBF99}"/>
              </a:ext>
            </a:extLst>
          </p:cNvPr>
          <p:cNvSpPr>
            <a:spLocks xmlns:a="http://schemas.openxmlformats.org/drawingml/2006/main" noGrp="1"/>
          </p:cNvSpPr>
          <p:nvPr/>
        </p:nvSpPr>
        <p:spPr>
          <a:xfrm xmlns:a="http://schemas.openxmlformats.org/drawingml/2006/main">
            <a:off x="876300" y="2286000"/>
            <a:ext cx="1581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GitHub</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Código</a:t>
            </a:r>
          </a:p>
        </p:txBody>
      </p:sp>
      <p:sp>
        <p:nvSpPr>
          <p:cNvPr id="6" name="">
            <a:extLst xmlns:a="http://schemas.openxmlformats.org/drawingml/2006/main">
              <a:ext uri="{FF2B5EF4-FFF2-40B4-BE49-F238E27FC236}">
                <a16:creationId xmlns:a16="http://schemas.microsoft.com/office/drawing/2014/main" id="{09001C0E-7245-4C9C-AB6C-920C74FD092C}"/>
              </a:ext>
            </a:extLst>
          </p:cNvPr>
          <p:cNvSpPr>
            <a:spLocks xmlns:a="http://schemas.openxmlformats.org/drawingml/2006/main" noGrp="1"/>
          </p:cNvSpPr>
          <p:nvPr/>
        </p:nvSpPr>
        <p:spPr>
          <a:xfrm xmlns:a="http://schemas.openxmlformats.org/drawingml/2006/main">
            <a:off x="2714625" y="2619375"/>
            <a:ext cx="1905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EF8760-A9DF-49F3-85EA-9137ED865C98}"/>
              </a:ext>
            </a:extLst>
          </p:cNvPr>
          <p:cNvSpPr>
            <a:spLocks xmlns:a="http://schemas.openxmlformats.org/drawingml/2006/main" noGrp="1"/>
          </p:cNvSpPr>
          <p:nvPr/>
        </p:nvSpPr>
        <p:spPr>
          <a:xfrm xmlns:a="http://schemas.openxmlformats.org/drawingml/2006/main">
            <a:off x="2933700" y="2095500"/>
            <a:ext cx="19240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8" name="">
            <a:extLst xmlns:a="http://schemas.openxmlformats.org/drawingml/2006/main">
              <a:ext uri="{FF2B5EF4-FFF2-40B4-BE49-F238E27FC236}">
                <a16:creationId xmlns:a16="http://schemas.microsoft.com/office/drawing/2014/main" id="{D610D353-C76B-4FFB-8C09-FB89C1364130}"/>
              </a:ext>
            </a:extLst>
          </p:cNvPr>
          <p:cNvSpPr>
            <a:spLocks xmlns:a="http://schemas.openxmlformats.org/drawingml/2006/main" noGrp="1"/>
          </p:cNvSpPr>
          <p:nvPr/>
        </p:nvSpPr>
        <p:spPr>
          <a:xfrm xmlns:a="http://schemas.openxmlformats.org/drawingml/2006/main">
            <a:off x="3105150" y="2286000"/>
            <a:ext cx="1581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Tests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y gates</a:t>
            </a:r>
          </a:p>
        </p:txBody>
      </p:sp>
      <p:sp>
        <p:nvSpPr>
          <p:cNvPr id="9" name="">
            <a:extLst xmlns:a="http://schemas.openxmlformats.org/drawingml/2006/main">
              <a:ext uri="{FF2B5EF4-FFF2-40B4-BE49-F238E27FC236}">
                <a16:creationId xmlns:a16="http://schemas.microsoft.com/office/drawing/2014/main" id="{4BE8C0D6-BFC8-4D49-8F83-F2CE9C01C701}"/>
              </a:ext>
            </a:extLst>
          </p:cNvPr>
          <p:cNvSpPr>
            <a:spLocks xmlns:a="http://schemas.openxmlformats.org/drawingml/2006/main" noGrp="1"/>
          </p:cNvSpPr>
          <p:nvPr/>
        </p:nvSpPr>
        <p:spPr>
          <a:xfrm xmlns:a="http://schemas.openxmlformats.org/drawingml/2006/main">
            <a:off x="4943475" y="2619375"/>
            <a:ext cx="1905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9B1E03-1E1F-4644-AAF2-C2B3684C18E4}"/>
              </a:ext>
            </a:extLst>
          </p:cNvPr>
          <p:cNvSpPr>
            <a:spLocks xmlns:a="http://schemas.openxmlformats.org/drawingml/2006/main" noGrp="1"/>
          </p:cNvSpPr>
          <p:nvPr/>
        </p:nvSpPr>
        <p:spPr>
          <a:xfrm xmlns:a="http://schemas.openxmlformats.org/drawingml/2006/main">
            <a:off x="5162550" y="2095500"/>
            <a:ext cx="19240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1" name="">
            <a:extLst xmlns:a="http://schemas.openxmlformats.org/drawingml/2006/main">
              <a:ext uri="{FF2B5EF4-FFF2-40B4-BE49-F238E27FC236}">
                <a16:creationId xmlns:a16="http://schemas.microsoft.com/office/drawing/2014/main" id="{D6E2992A-FCBE-4BA0-9EE1-26E91405A239}"/>
              </a:ext>
            </a:extLst>
          </p:cNvPr>
          <p:cNvSpPr>
            <a:spLocks xmlns:a="http://schemas.openxmlformats.org/drawingml/2006/main" noGrp="1"/>
          </p:cNvSpPr>
          <p:nvPr/>
        </p:nvSpPr>
        <p:spPr>
          <a:xfrm xmlns:a="http://schemas.openxmlformats.org/drawingml/2006/main">
            <a:off x="5334000" y="2286000"/>
            <a:ext cx="1581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Backend</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ECR y ECS</a:t>
            </a:r>
          </a:p>
        </p:txBody>
      </p:sp>
      <p:sp>
        <p:nvSpPr>
          <p:cNvPr id="12" name="">
            <a:extLst xmlns:a="http://schemas.openxmlformats.org/drawingml/2006/main">
              <a:ext uri="{FF2B5EF4-FFF2-40B4-BE49-F238E27FC236}">
                <a16:creationId xmlns:a16="http://schemas.microsoft.com/office/drawing/2014/main" id="{D8C0F3F3-48EC-467A-934E-30DA37C06B77}"/>
              </a:ext>
            </a:extLst>
          </p:cNvPr>
          <p:cNvSpPr>
            <a:spLocks xmlns:a="http://schemas.openxmlformats.org/drawingml/2006/main" noGrp="1"/>
          </p:cNvSpPr>
          <p:nvPr/>
        </p:nvSpPr>
        <p:spPr>
          <a:xfrm xmlns:a="http://schemas.openxmlformats.org/drawingml/2006/main">
            <a:off x="7172325" y="2619375"/>
            <a:ext cx="1905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083D37-E416-4E26-9B63-CF6D31756EC3}"/>
              </a:ext>
            </a:extLst>
          </p:cNvPr>
          <p:cNvSpPr>
            <a:spLocks xmlns:a="http://schemas.openxmlformats.org/drawingml/2006/main" noGrp="1"/>
          </p:cNvSpPr>
          <p:nvPr/>
        </p:nvSpPr>
        <p:spPr>
          <a:xfrm xmlns:a="http://schemas.openxmlformats.org/drawingml/2006/main">
            <a:off x="7391400" y="2095500"/>
            <a:ext cx="19240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4" name="">
            <a:extLst xmlns:a="http://schemas.openxmlformats.org/drawingml/2006/main">
              <a:ext uri="{FF2B5EF4-FFF2-40B4-BE49-F238E27FC236}">
                <a16:creationId xmlns:a16="http://schemas.microsoft.com/office/drawing/2014/main" id="{5356A7B6-4C8B-4953-A3BD-34085FD9E812}"/>
              </a:ext>
            </a:extLst>
          </p:cNvPr>
          <p:cNvSpPr>
            <a:spLocks xmlns:a="http://schemas.openxmlformats.org/drawingml/2006/main" noGrp="1"/>
          </p:cNvSpPr>
          <p:nvPr/>
        </p:nvSpPr>
        <p:spPr>
          <a:xfrm xmlns:a="http://schemas.openxmlformats.org/drawingml/2006/main">
            <a:off x="7562850" y="2286000"/>
            <a:ext cx="1581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Frontend</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ECR y ECS</a:t>
            </a:r>
          </a:p>
        </p:txBody>
      </p:sp>
      <p:sp>
        <p:nvSpPr>
          <p:cNvPr id="15" name="">
            <a:extLst xmlns:a="http://schemas.openxmlformats.org/drawingml/2006/main">
              <a:ext uri="{FF2B5EF4-FFF2-40B4-BE49-F238E27FC236}">
                <a16:creationId xmlns:a16="http://schemas.microsoft.com/office/drawing/2014/main" id="{F41A442F-2CD2-4125-A766-ADBA7ED7BE9A}"/>
              </a:ext>
            </a:extLst>
          </p:cNvPr>
          <p:cNvSpPr>
            <a:spLocks xmlns:a="http://schemas.openxmlformats.org/drawingml/2006/main" noGrp="1"/>
          </p:cNvSpPr>
          <p:nvPr/>
        </p:nvSpPr>
        <p:spPr>
          <a:xfrm xmlns:a="http://schemas.openxmlformats.org/drawingml/2006/main">
            <a:off x="9401175" y="2619375"/>
            <a:ext cx="19050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A1658B-FD59-4AB5-B653-7E2327BC64EB}"/>
              </a:ext>
            </a:extLst>
          </p:cNvPr>
          <p:cNvSpPr>
            <a:spLocks xmlns:a="http://schemas.openxmlformats.org/drawingml/2006/main" noGrp="1"/>
          </p:cNvSpPr>
          <p:nvPr/>
        </p:nvSpPr>
        <p:spPr>
          <a:xfrm xmlns:a="http://schemas.openxmlformats.org/drawingml/2006/main">
            <a:off x="9620250" y="2095500"/>
            <a:ext cx="19240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7" name="">
            <a:extLst xmlns:a="http://schemas.openxmlformats.org/drawingml/2006/main">
              <a:ext uri="{FF2B5EF4-FFF2-40B4-BE49-F238E27FC236}">
                <a16:creationId xmlns:a16="http://schemas.microsoft.com/office/drawing/2014/main" id="{B63A79C9-6966-4B5D-B91E-870CB9DF1A79}"/>
              </a:ext>
            </a:extLst>
          </p:cNvPr>
          <p:cNvSpPr>
            <a:spLocks xmlns:a="http://schemas.openxmlformats.org/drawingml/2006/main" noGrp="1"/>
          </p:cNvSpPr>
          <p:nvPr/>
        </p:nvSpPr>
        <p:spPr>
          <a:xfrm xmlns:a="http://schemas.openxmlformats.org/drawingml/2006/main">
            <a:off x="9791700" y="2286000"/>
            <a:ext cx="1581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Servicios</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estables</a:t>
            </a:r>
          </a:p>
        </p:txBody>
      </p:sp>
      <p:sp>
        <p:nvSpPr>
          <p:cNvPr id="18" name="">
            <a:extLst xmlns:a="http://schemas.openxmlformats.org/drawingml/2006/main">
              <a:ext uri="{FF2B5EF4-FFF2-40B4-BE49-F238E27FC236}">
                <a16:creationId xmlns:a16="http://schemas.microsoft.com/office/drawing/2014/main" id="{BEB36511-195C-4F96-9317-549AC592BAD2}"/>
              </a:ext>
            </a:extLst>
          </p:cNvPr>
          <p:cNvSpPr>
            <a:spLocks xmlns:a="http://schemas.openxmlformats.org/drawingml/2006/main" noGrp="1"/>
          </p:cNvSpPr>
          <p:nvPr/>
        </p:nvSpPr>
        <p:spPr>
          <a:xfrm xmlns:a="http://schemas.openxmlformats.org/drawingml/2006/main">
            <a:off x="723900" y="3590925"/>
            <a:ext cx="2047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Push o merge</a:t>
            </a:r>
          </a:p>
        </p:txBody>
      </p:sp>
      <p:sp>
        <p:nvSpPr>
          <p:cNvPr id="19" name="">
            <a:extLst xmlns:a="http://schemas.openxmlformats.org/drawingml/2006/main">
              <a:ext uri="{FF2B5EF4-FFF2-40B4-BE49-F238E27FC236}">
                <a16:creationId xmlns:a16="http://schemas.microsoft.com/office/drawing/2014/main" id="{D250B554-3533-4322-8587-D5D811D739A7}"/>
              </a:ext>
            </a:extLst>
          </p:cNvPr>
          <p:cNvSpPr>
            <a:spLocks xmlns:a="http://schemas.openxmlformats.org/drawingml/2006/main" noGrp="1"/>
          </p:cNvSpPr>
          <p:nvPr/>
        </p:nvSpPr>
        <p:spPr>
          <a:xfrm xmlns:a="http://schemas.openxmlformats.org/drawingml/2006/main">
            <a:off x="2952750" y="3590925"/>
            <a:ext cx="2047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xUnit + pruebas web</a:t>
            </a:r>
          </a:p>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Gates automáticos</a:t>
            </a:r>
          </a:p>
        </p:txBody>
      </p:sp>
      <p:sp>
        <p:nvSpPr>
          <p:cNvPr id="20" name="">
            <a:extLst xmlns:a="http://schemas.openxmlformats.org/drawingml/2006/main">
              <a:ext uri="{FF2B5EF4-FFF2-40B4-BE49-F238E27FC236}">
                <a16:creationId xmlns:a16="http://schemas.microsoft.com/office/drawing/2014/main" id="{F1E38F3C-09C3-42FB-A5E0-B41149462A72}"/>
              </a:ext>
            </a:extLst>
          </p:cNvPr>
          <p:cNvSpPr>
            <a:spLocks xmlns:a="http://schemas.openxmlformats.org/drawingml/2006/main" noGrp="1"/>
          </p:cNvSpPr>
          <p:nvPr/>
        </p:nvSpPr>
        <p:spPr>
          <a:xfrm xmlns:a="http://schemas.openxmlformats.org/drawingml/2006/main">
            <a:off x="5181600" y="3590925"/>
            <a:ext cx="2009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Imagen en ECR</a:t>
            </a:r>
          </a:p>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Actualizar servicio</a:t>
            </a:r>
          </a:p>
        </p:txBody>
      </p:sp>
      <p:sp>
        <p:nvSpPr>
          <p:cNvPr id="21" name="">
            <a:extLst xmlns:a="http://schemas.openxmlformats.org/drawingml/2006/main">
              <a:ext uri="{FF2B5EF4-FFF2-40B4-BE49-F238E27FC236}">
                <a16:creationId xmlns:a16="http://schemas.microsoft.com/office/drawing/2014/main" id="{59E624B0-1392-4494-970E-5291CBB226A7}"/>
              </a:ext>
            </a:extLst>
          </p:cNvPr>
          <p:cNvSpPr>
            <a:spLocks xmlns:a="http://schemas.openxmlformats.org/drawingml/2006/main" noGrp="1"/>
          </p:cNvSpPr>
          <p:nvPr/>
        </p:nvSpPr>
        <p:spPr>
          <a:xfrm xmlns:a="http://schemas.openxmlformats.org/drawingml/2006/main">
            <a:off x="7410450" y="35909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Después del backend</a:t>
            </a:r>
          </a:p>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Imagen en ECR</a:t>
            </a:r>
          </a:p>
        </p:txBody>
      </p:sp>
      <p:sp>
        <p:nvSpPr>
          <p:cNvPr id="22" name="">
            <a:extLst xmlns:a="http://schemas.openxmlformats.org/drawingml/2006/main">
              <a:ext uri="{FF2B5EF4-FFF2-40B4-BE49-F238E27FC236}">
                <a16:creationId xmlns:a16="http://schemas.microsoft.com/office/drawing/2014/main" id="{8FA687CB-5741-41AD-9220-AD92751F8D75}"/>
              </a:ext>
            </a:extLst>
          </p:cNvPr>
          <p:cNvSpPr>
            <a:spLocks xmlns:a="http://schemas.openxmlformats.org/drawingml/2006/main" noGrp="1"/>
          </p:cNvSpPr>
          <p:nvPr/>
        </p:nvSpPr>
        <p:spPr>
          <a:xfrm xmlns:a="http://schemas.openxmlformats.org/drawingml/2006/main">
            <a:off x="9639300" y="3590925"/>
            <a:ext cx="1943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ECS espera la salud</a:t>
            </a:r>
          </a:p>
          <a:p xmlns:a="http://schemas.openxmlformats.org/drawingml/2006/main">
            <a:pPr>
              <a:defRPr sz="1650" b="0">
                <a:solidFill>
                  <a:srgbClr val="62696D"/>
                </a:solidFill>
                <a:latin typeface="Arial"/>
                <a:ea typeface="Arial"/>
                <a:cs typeface="Arial"/>
              </a:defRPr>
            </a:pPr>
            <a:r>
              <a:rPr sz="1650" b="0">
                <a:solidFill>
                  <a:srgbClr val="62696D"/>
                </a:solidFill>
                <a:latin typeface="Arial"/>
                <a:ea typeface="Arial"/>
                <a:cs typeface="Arial"/>
              </a:rPr>
              <a:t>del servicio</a:t>
            </a:r>
          </a:p>
        </p:txBody>
      </p:sp>
      <p:sp>
        <p:nvSpPr>
          <p:cNvPr id="23" name="">
            <a:extLst xmlns:a="http://schemas.openxmlformats.org/drawingml/2006/main">
              <a:ext uri="{FF2B5EF4-FFF2-40B4-BE49-F238E27FC236}">
                <a16:creationId xmlns:a16="http://schemas.microsoft.com/office/drawing/2014/main" id="{AB927011-B9FE-4CEC-B00F-0B209BBC0FA3}"/>
              </a:ext>
            </a:extLst>
          </p:cNvPr>
          <p:cNvSpPr>
            <a:spLocks xmlns:a="http://schemas.openxmlformats.org/drawingml/2006/main" noGrp="1"/>
          </p:cNvSpPr>
          <p:nvPr/>
        </p:nvSpPr>
        <p:spPr>
          <a:xfrm xmlns:a="http://schemas.openxmlformats.org/drawingml/2006/main">
            <a:off x="733425" y="47720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2181E"/>
                </a:solidFill>
                <a:latin typeface="Arial"/>
                <a:ea typeface="Arial"/>
                <a:cs typeface="Arial"/>
              </a:defRPr>
            </a:pPr>
            <a:r>
              <a:rPr sz="2325" b="1">
                <a:solidFill>
                  <a:srgbClr val="D2181E"/>
                </a:solidFill>
                <a:latin typeface="Arial"/>
                <a:ea typeface="Arial"/>
                <a:cs typeface="Arial"/>
              </a:rPr>
              <a:t>Si falla una prueba, el despliegue se detiene.</a:t>
            </a:r>
          </a:p>
        </p:txBody>
      </p:sp>
      <p:sp>
        <p:nvSpPr>
          <p:cNvPr id="24" name="">
            <a:extLst xmlns:a="http://schemas.openxmlformats.org/drawingml/2006/main">
              <a:ext uri="{FF2B5EF4-FFF2-40B4-BE49-F238E27FC236}">
                <a16:creationId xmlns:a16="http://schemas.microsoft.com/office/drawing/2014/main" id="{A450ABDE-FA7D-4D50-9FF4-4F537DACF436}"/>
              </a:ext>
            </a:extLst>
          </p:cNvPr>
          <p:cNvSpPr>
            <a:spLocks xmlns:a="http://schemas.openxmlformats.org/drawingml/2006/main" noGrp="1"/>
          </p:cNvSpPr>
          <p:nvPr/>
        </p:nvSpPr>
        <p:spPr>
          <a:xfrm xmlns:a="http://schemas.openxmlformats.org/drawingml/2006/main">
            <a:off x="733425" y="5572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D"/>
                </a:solidFill>
                <a:latin typeface="Arial"/>
                <a:ea typeface="Arial"/>
                <a:cs typeface="Arial"/>
              </a:defRPr>
            </a:pPr>
            <a:r>
              <a:rPr sz="1875" b="0">
                <a:solidFill>
                  <a:srgbClr val="62696D"/>
                </a:solidFill>
                <a:latin typeface="Arial"/>
                <a:ea typeface="Arial"/>
                <a:cs typeface="Arial"/>
              </a:rPr>
              <a:t>Acceso AWS con OIDC e IAM. Cada imagen identifica el commit publicado.</a:t>
            </a:r>
          </a:p>
        </p:txBody>
      </p:sp>
    </p:spTree>
    <p:extLst>
      <p:ext uri="{BB962C8B-B14F-4D97-AF65-F5344CB8AC3E}">
        <p14:creationId xmlns:p14="http://schemas.microsoft.com/office/powerpoint/2010/main" val="1192766631"/>
      </p:ext>
    </p:extLst>
  </p:cSld>
</p:sld>
</file>

<file path=ppt/slides/slide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05C5947-CA7D-4054-A21E-35085E179975}"/>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Lo realizado: plataforma web</a:t>
            </a:r>
          </a:p>
        </p:txBody>
      </p:sp>
      <p:sp>
        <p:nvSpPr>
          <p:cNvPr id="2" name="">
            <a:extLst xmlns:a="http://schemas.openxmlformats.org/drawingml/2006/main">
              <a:ext uri="{FF2B5EF4-FFF2-40B4-BE49-F238E27FC236}">
                <a16:creationId xmlns:a16="http://schemas.microsoft.com/office/drawing/2014/main" id="{49D48A7E-A483-45B4-8784-141D1EC94874}"/>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75BCB43-6DB8-471D-B44B-D05E1F325182}"/>
              </a:ext>
            </a:extLst>
          </p:cNvPr>
          <p:cNvSpPr>
            <a:spLocks xmlns:a="http://schemas.openxmlformats.org/drawingml/2006/main" noGrp="1"/>
          </p:cNvSpPr>
          <p:nvPr/>
        </p:nvSpPr>
        <p:spPr>
          <a:xfrm xmlns:a="http://schemas.openxmlformats.org/drawingml/2006/main">
            <a:off x="704850" y="17907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Organización y acceso</a:t>
            </a:r>
          </a:p>
        </p:txBody>
      </p:sp>
      <p:sp>
        <p:nvSpPr>
          <p:cNvPr id="4" name="">
            <a:extLst xmlns:a="http://schemas.openxmlformats.org/drawingml/2006/main">
              <a:ext uri="{FF2B5EF4-FFF2-40B4-BE49-F238E27FC236}">
                <a16:creationId xmlns:a16="http://schemas.microsoft.com/office/drawing/2014/main" id="{9B1F5179-6948-4D73-8E6B-D567512F43EB}"/>
              </a:ext>
            </a:extLst>
          </p:cNvPr>
          <p:cNvSpPr>
            <a:spLocks xmlns:a="http://schemas.openxmlformats.org/drawingml/2006/main" noGrp="1"/>
          </p:cNvSpPr>
          <p:nvPr/>
        </p:nvSpPr>
        <p:spPr>
          <a:xfrm xmlns:a="http://schemas.openxmlformats.org/drawingml/2006/main">
            <a:off x="704850" y="220027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Empresas, granjas, lotes, usuarios y perfiles.</a:t>
            </a:r>
          </a:p>
        </p:txBody>
      </p:sp>
      <p:sp>
        <p:nvSpPr>
          <p:cNvPr id="5" name="">
            <a:extLst xmlns:a="http://schemas.openxmlformats.org/drawingml/2006/main">
              <a:ext uri="{FF2B5EF4-FFF2-40B4-BE49-F238E27FC236}">
                <a16:creationId xmlns:a16="http://schemas.microsoft.com/office/drawing/2014/main" id="{4CFDEE72-9C72-4831-B7DF-A11AB163C7CC}"/>
              </a:ext>
            </a:extLst>
          </p:cNvPr>
          <p:cNvSpPr>
            <a:spLocks xmlns:a="http://schemas.openxmlformats.org/drawingml/2006/main" noGrp="1"/>
          </p:cNvSpPr>
          <p:nvPr/>
        </p:nvSpPr>
        <p:spPr>
          <a:xfrm xmlns:a="http://schemas.openxmlformats.org/drawingml/2006/main">
            <a:off x="704850" y="31432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e inventario</a:t>
            </a:r>
          </a:p>
        </p:txBody>
      </p:sp>
      <p:sp>
        <p:nvSpPr>
          <p:cNvPr id="6" name="">
            <a:extLst xmlns:a="http://schemas.openxmlformats.org/drawingml/2006/main">
              <a:ext uri="{FF2B5EF4-FFF2-40B4-BE49-F238E27FC236}">
                <a16:creationId xmlns:a16="http://schemas.microsoft.com/office/drawing/2014/main" id="{4E071936-B77D-4F67-B8C2-AF042F9E25A9}"/>
              </a:ext>
            </a:extLst>
          </p:cNvPr>
          <p:cNvSpPr>
            <a:spLocks xmlns:a="http://schemas.openxmlformats.org/drawingml/2006/main" noGrp="1"/>
          </p:cNvSpPr>
          <p:nvPr/>
        </p:nvSpPr>
        <p:spPr>
          <a:xfrm xmlns:a="http://schemas.openxmlformats.org/drawingml/2006/main">
            <a:off x="704850" y="355282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Ingresos, existencias y consumo.</a:t>
            </a:r>
          </a:p>
        </p:txBody>
      </p:sp>
      <p:sp>
        <p:nvSpPr>
          <p:cNvPr id="7" name="">
            <a:extLst xmlns:a="http://schemas.openxmlformats.org/drawingml/2006/main">
              <a:ext uri="{FF2B5EF4-FFF2-40B4-BE49-F238E27FC236}">
                <a16:creationId xmlns:a16="http://schemas.microsoft.com/office/drawing/2014/main" id="{B62B4877-1EE4-404B-ACC8-5787F1F679DC}"/>
              </a:ext>
            </a:extLst>
          </p:cNvPr>
          <p:cNvSpPr>
            <a:spLocks xmlns:a="http://schemas.openxmlformats.org/drawingml/2006/main" noGrp="1"/>
          </p:cNvSpPr>
          <p:nvPr/>
        </p:nvSpPr>
        <p:spPr>
          <a:xfrm xmlns:a="http://schemas.openxmlformats.org/drawingml/2006/main">
            <a:off x="704850" y="44958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Seguimiento diario</a:t>
            </a:r>
          </a:p>
        </p:txBody>
      </p:sp>
      <p:sp>
        <p:nvSpPr>
          <p:cNvPr id="8" name="">
            <a:extLst xmlns:a="http://schemas.openxmlformats.org/drawingml/2006/main">
              <a:ext uri="{FF2B5EF4-FFF2-40B4-BE49-F238E27FC236}">
                <a16:creationId xmlns:a16="http://schemas.microsoft.com/office/drawing/2014/main" id="{372889B2-DFB8-438A-8081-B34CE59F9C4D}"/>
              </a:ext>
            </a:extLst>
          </p:cNvPr>
          <p:cNvSpPr>
            <a:spLocks xmlns:a="http://schemas.openxmlformats.org/drawingml/2006/main" noGrp="1"/>
          </p:cNvSpPr>
          <p:nvPr/>
        </p:nvSpPr>
        <p:spPr>
          <a:xfrm xmlns:a="http://schemas.openxmlformats.org/drawingml/2006/main">
            <a:off x="704850" y="4905375"/>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Novedades, pesajes y mortalidad.</a:t>
            </a:r>
          </a:p>
        </p:txBody>
      </p:sp>
      <p:sp>
        <p:nvSpPr>
          <p:cNvPr id="9" name="">
            <a:extLst xmlns:a="http://schemas.openxmlformats.org/drawingml/2006/main">
              <a:ext uri="{FF2B5EF4-FFF2-40B4-BE49-F238E27FC236}">
                <a16:creationId xmlns:a16="http://schemas.microsoft.com/office/drawing/2014/main" id="{24A85AC3-C534-4D0C-9B64-46249F365486}"/>
              </a:ext>
            </a:extLst>
          </p:cNvPr>
          <p:cNvSpPr>
            <a:spLocks xmlns:a="http://schemas.openxmlformats.org/drawingml/2006/main" noGrp="1"/>
          </p:cNvSpPr>
          <p:nvPr/>
        </p:nvSpPr>
        <p:spPr>
          <a:xfrm xmlns:a="http://schemas.openxmlformats.org/drawingml/2006/main">
            <a:off x="6486525" y="17907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y movimientos</a:t>
            </a:r>
          </a:p>
        </p:txBody>
      </p:sp>
      <p:sp>
        <p:nvSpPr>
          <p:cNvPr id="10" name="">
            <a:extLst xmlns:a="http://schemas.openxmlformats.org/drawingml/2006/main">
              <a:ext uri="{FF2B5EF4-FFF2-40B4-BE49-F238E27FC236}">
                <a16:creationId xmlns:a16="http://schemas.microsoft.com/office/drawing/2014/main" id="{AEC371D2-5EA0-427B-80CA-11E13B0D7C92}"/>
              </a:ext>
            </a:extLst>
          </p:cNvPr>
          <p:cNvSpPr>
            <a:spLocks xmlns:a="http://schemas.openxmlformats.org/drawingml/2006/main" noGrp="1"/>
          </p:cNvSpPr>
          <p:nvPr/>
        </p:nvSpPr>
        <p:spPr>
          <a:xfrm xmlns:a="http://schemas.openxmlformats.org/drawingml/2006/main">
            <a:off x="6486525" y="22002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Huevos, clasificación y traslados.</a:t>
            </a:r>
          </a:p>
        </p:txBody>
      </p:sp>
      <p:sp>
        <p:nvSpPr>
          <p:cNvPr id="11" name="">
            <a:extLst xmlns:a="http://schemas.openxmlformats.org/drawingml/2006/main">
              <a:ext uri="{FF2B5EF4-FFF2-40B4-BE49-F238E27FC236}">
                <a16:creationId xmlns:a16="http://schemas.microsoft.com/office/drawing/2014/main" id="{A0C89DEF-671B-41BF-914D-CA25BD917584}"/>
              </a:ext>
            </a:extLst>
          </p:cNvPr>
          <p:cNvSpPr>
            <a:spLocks xmlns:a="http://schemas.openxmlformats.org/drawingml/2006/main" noGrp="1"/>
          </p:cNvSpPr>
          <p:nvPr/>
        </p:nvSpPr>
        <p:spPr>
          <a:xfrm xmlns:a="http://schemas.openxmlformats.org/drawingml/2006/main">
            <a:off x="6486525" y="3143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Indicadores y reportes</a:t>
            </a:r>
          </a:p>
        </p:txBody>
      </p:sp>
      <p:sp>
        <p:nvSpPr>
          <p:cNvPr id="12" name="">
            <a:extLst xmlns:a="http://schemas.openxmlformats.org/drawingml/2006/main">
              <a:ext uri="{FF2B5EF4-FFF2-40B4-BE49-F238E27FC236}">
                <a16:creationId xmlns:a16="http://schemas.microsoft.com/office/drawing/2014/main" id="{0BCF2D2E-B0FA-4BF1-9AAB-1FBFAA0BBBCF}"/>
              </a:ext>
            </a:extLst>
          </p:cNvPr>
          <p:cNvSpPr>
            <a:spLocks xmlns:a="http://schemas.openxmlformats.org/drawingml/2006/main" noGrp="1"/>
          </p:cNvSpPr>
          <p:nvPr/>
        </p:nvSpPr>
        <p:spPr>
          <a:xfrm xmlns:a="http://schemas.openxmlformats.org/drawingml/2006/main">
            <a:off x="6486525" y="355282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Información técnica, productiva y de costos.</a:t>
            </a:r>
          </a:p>
        </p:txBody>
      </p:sp>
      <p:sp>
        <p:nvSpPr>
          <p:cNvPr id="13" name="">
            <a:extLst xmlns:a="http://schemas.openxmlformats.org/drawingml/2006/main">
              <a:ext uri="{FF2B5EF4-FFF2-40B4-BE49-F238E27FC236}">
                <a16:creationId xmlns:a16="http://schemas.microsoft.com/office/drawing/2014/main" id="{BB19D716-767F-4F06-8BA3-DD729223CF74}"/>
              </a:ext>
            </a:extLst>
          </p:cNvPr>
          <p:cNvSpPr>
            <a:spLocks xmlns:a="http://schemas.openxmlformats.org/drawingml/2006/main" noGrp="1"/>
          </p:cNvSpPr>
          <p:nvPr/>
        </p:nvSpPr>
        <p:spPr>
          <a:xfrm xmlns:a="http://schemas.openxmlformats.org/drawingml/2006/main">
            <a:off x="6486525" y="44958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Consulta actualizada</a:t>
            </a:r>
          </a:p>
        </p:txBody>
      </p:sp>
      <p:sp>
        <p:nvSpPr>
          <p:cNvPr id="14" name="">
            <a:extLst xmlns:a="http://schemas.openxmlformats.org/drawingml/2006/main">
              <a:ext uri="{FF2B5EF4-FFF2-40B4-BE49-F238E27FC236}">
                <a16:creationId xmlns:a16="http://schemas.microsoft.com/office/drawing/2014/main" id="{F1B4779D-AC46-4087-AB5F-526654A86FC4}"/>
              </a:ext>
            </a:extLst>
          </p:cNvPr>
          <p:cNvSpPr>
            <a:spLocks xmlns:a="http://schemas.openxmlformats.org/drawingml/2006/main" noGrp="1"/>
          </p:cNvSpPr>
          <p:nvPr/>
        </p:nvSpPr>
        <p:spPr>
          <a:xfrm xmlns:a="http://schemas.openxmlformats.org/drawingml/2006/main">
            <a:off x="6486525" y="49053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96D"/>
                </a:solidFill>
                <a:latin typeface="Arial"/>
                <a:ea typeface="Arial"/>
                <a:cs typeface="Arial"/>
              </a:defRPr>
            </a:pPr>
            <a:r>
              <a:rPr sz="1800" b="0">
                <a:solidFill>
                  <a:srgbClr val="62696D"/>
                </a:solidFill>
                <a:latin typeface="Arial"/>
                <a:ea typeface="Arial"/>
                <a:cs typeface="Arial"/>
              </a:rPr>
              <a:t>Datos disponibles tras el registro y proceso.</a:t>
            </a:r>
          </a:p>
        </p:txBody>
      </p:sp>
    </p:spTree>
    <p:extLst>
      <p:ext uri="{BB962C8B-B14F-4D97-AF65-F5344CB8AC3E}">
        <p14:creationId xmlns:p14="http://schemas.microsoft.com/office/powerpoint/2010/main" val="1660536184"/>
      </p:ext>
    </p:extLst>
  </p:cSld>
</p:sld>
</file>

<file path=ppt/slides/slide10.xml><?xml version="1.0" encoding="utf-8"?>
<p:sld xmlns:p="http://schemas.openxmlformats.org/presentationml/2006/main">
  <p:cSld>
    <p:bg>
      <p:bgPr>
        <a:solidFill xmlns:a="http://schemas.openxmlformats.org/drawingml/2006/main">
          <a:srgbClr val="262A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60DB83-FC9E-4576-A433-719708E88159}"/>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Aplicación móvil</a:t>
            </a:r>
          </a:p>
        </p:txBody>
      </p:sp>
      <p:sp>
        <p:nvSpPr>
          <p:cNvPr id="2" name="">
            <a:extLst xmlns:a="http://schemas.openxmlformats.org/drawingml/2006/main">
              <a:ext uri="{FF2B5EF4-FFF2-40B4-BE49-F238E27FC236}">
                <a16:creationId xmlns:a16="http://schemas.microsoft.com/office/drawing/2014/main" id="{C7CB29C2-EB92-4D0E-A2B3-3BD5A13FA19D}"/>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C6C6C6"/>
                </a:solidFill>
                <a:latin typeface="Arial"/>
                <a:ea typeface="Arial"/>
                <a:cs typeface="Arial"/>
              </a:defRPr>
            </a:pPr>
            <a:r>
              <a:rPr sz="1350" b="0">
                <a:solidFill>
                  <a:srgbClr val="C6C6C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DCF18E6-FD03-4AFF-99AB-080694B52EB1}"/>
              </a:ext>
            </a:extLst>
          </p:cNvPr>
          <p:cNvSpPr>
            <a:spLocks xmlns:a="http://schemas.openxmlformats.org/drawingml/2006/main" noGrp="1"/>
          </p:cNvSpPr>
          <p:nvPr/>
        </p:nvSpPr>
        <p:spPr>
          <a:xfrm xmlns:a="http://schemas.openxmlformats.org/drawingml/2006/main">
            <a:off x="685800" y="17526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80–90 %</a:t>
            </a:r>
          </a:p>
        </p:txBody>
      </p:sp>
      <p:sp>
        <p:nvSpPr>
          <p:cNvPr id="4" name="">
            <a:extLst xmlns:a="http://schemas.openxmlformats.org/drawingml/2006/main">
              <a:ext uri="{FF2B5EF4-FFF2-40B4-BE49-F238E27FC236}">
                <a16:creationId xmlns:a16="http://schemas.microsoft.com/office/drawing/2014/main" id="{9AE40CB4-AD2E-4E25-9967-3CAF2666B764}"/>
              </a:ext>
            </a:extLst>
          </p:cNvPr>
          <p:cNvSpPr>
            <a:spLocks xmlns:a="http://schemas.openxmlformats.org/drawingml/2006/main" noGrp="1"/>
          </p:cNvSpPr>
          <p:nvPr/>
        </p:nvSpPr>
        <p:spPr>
          <a:xfrm xmlns:a="http://schemas.openxmlformats.org/drawingml/2006/main">
            <a:off x="771525" y="3495675"/>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18B5C"/>
                </a:solidFill>
                <a:latin typeface="Arial"/>
                <a:ea typeface="Arial"/>
                <a:cs typeface="Arial"/>
              </a:defRPr>
            </a:pPr>
            <a:r>
              <a:rPr sz="2550" b="1">
                <a:solidFill>
                  <a:srgbClr val="F18B5C"/>
                </a:solidFill>
                <a:latin typeface="Arial"/>
                <a:ea typeface="Arial"/>
                <a:cs typeface="Arial"/>
              </a:rPr>
              <a:t>Avance estimado</a:t>
            </a:r>
          </a:p>
        </p:txBody>
      </p:sp>
      <p:sp>
        <p:nvSpPr>
          <p:cNvPr id="5" name="">
            <a:extLst xmlns:a="http://schemas.openxmlformats.org/drawingml/2006/main">
              <a:ext uri="{FF2B5EF4-FFF2-40B4-BE49-F238E27FC236}">
                <a16:creationId xmlns:a16="http://schemas.microsoft.com/office/drawing/2014/main" id="{D771515A-0C45-436C-8B5E-A46C457C9AF2}"/>
              </a:ext>
            </a:extLst>
          </p:cNvPr>
          <p:cNvSpPr>
            <a:spLocks xmlns:a="http://schemas.openxmlformats.org/drawingml/2006/main" noGrp="1"/>
          </p:cNvSpPr>
          <p:nvPr/>
        </p:nvSpPr>
        <p:spPr>
          <a:xfrm xmlns:a="http://schemas.openxmlformats.org/drawingml/2006/main">
            <a:off x="771525" y="43910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Todavía sin desplegar</a:t>
            </a:r>
          </a:p>
        </p:txBody>
      </p:sp>
      <p:sp>
        <p:nvSpPr>
          <p:cNvPr id="6" name="">
            <a:extLst xmlns:a="http://schemas.openxmlformats.org/drawingml/2006/main">
              <a:ext uri="{FF2B5EF4-FFF2-40B4-BE49-F238E27FC236}">
                <a16:creationId xmlns:a16="http://schemas.microsoft.com/office/drawing/2014/main" id="{BA2CB617-C895-4C97-B5AD-D3746BA6CCF8}"/>
              </a:ext>
            </a:extLst>
          </p:cNvPr>
          <p:cNvSpPr>
            <a:spLocks xmlns:a="http://schemas.openxmlformats.org/drawingml/2006/main" noGrp="1"/>
          </p:cNvSpPr>
          <p:nvPr/>
        </p:nvSpPr>
        <p:spPr>
          <a:xfrm xmlns:a="http://schemas.openxmlformats.org/drawingml/2006/main">
            <a:off x="771525" y="52863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6C6C6"/>
                </a:solidFill>
                <a:latin typeface="Arial"/>
                <a:ea typeface="Arial"/>
                <a:cs typeface="Arial"/>
              </a:defRPr>
            </a:pPr>
            <a:r>
              <a:rPr sz="1650" b="0">
                <a:solidFill>
                  <a:srgbClr val="C6C6C6"/>
                </a:solidFill>
                <a:latin typeface="Arial"/>
                <a:ea typeface="Arial"/>
                <a:cs typeface="Arial"/>
              </a:rPr>
              <a:t>Estimación del responsable del proyecto</a:t>
            </a:r>
          </a:p>
        </p:txBody>
      </p:sp>
      <p:sp>
        <p:nvSpPr>
          <p:cNvPr id="7" name="">
            <a:extLst xmlns:a="http://schemas.openxmlformats.org/drawingml/2006/main">
              <a:ext uri="{FF2B5EF4-FFF2-40B4-BE49-F238E27FC236}">
                <a16:creationId xmlns:a16="http://schemas.microsoft.com/office/drawing/2014/main" id="{59EBCB86-3C02-47AF-95F4-CE32211C574E}"/>
              </a:ext>
            </a:extLst>
          </p:cNvPr>
          <p:cNvSpPr>
            <a:spLocks xmlns:a="http://schemas.openxmlformats.org/drawingml/2006/main" noGrp="1"/>
          </p:cNvSpPr>
          <p:nvPr/>
        </p:nvSpPr>
        <p:spPr>
          <a:xfrm xmlns:a="http://schemas.openxmlformats.org/drawingml/2006/main">
            <a:off x="7877175" y="1971675"/>
            <a:ext cx="3619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La operación orienta</a:t>
            </a:r>
          </a:p>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los ajustes</a:t>
            </a:r>
          </a:p>
        </p:txBody>
      </p:sp>
      <p:sp>
        <p:nvSpPr>
          <p:cNvPr id="8" name="">
            <a:extLst xmlns:a="http://schemas.openxmlformats.org/drawingml/2006/main">
              <a:ext uri="{FF2B5EF4-FFF2-40B4-BE49-F238E27FC236}">
                <a16:creationId xmlns:a16="http://schemas.microsoft.com/office/drawing/2014/main" id="{5EC15401-6DE7-4296-B177-749714998377}"/>
              </a:ext>
            </a:extLst>
          </p:cNvPr>
          <p:cNvSpPr>
            <a:spLocks xmlns:a="http://schemas.openxmlformats.org/drawingml/2006/main" noGrp="1"/>
          </p:cNvSpPr>
          <p:nvPr/>
        </p:nvSpPr>
        <p:spPr>
          <a:xfrm xmlns:a="http://schemas.openxmlformats.org/drawingml/2006/main">
            <a:off x="7877175" y="3429000"/>
            <a:ext cx="347662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D2CB"/>
                </a:solidFill>
                <a:latin typeface="Arial"/>
                <a:ea typeface="Arial"/>
                <a:cs typeface="Arial"/>
              </a:defRPr>
            </a:pPr>
            <a:r>
              <a:rPr sz="2100" b="0">
                <a:solidFill>
                  <a:srgbClr val="D8D2CB"/>
                </a:solidFill>
                <a:latin typeface="Arial"/>
                <a:ea typeface="Arial"/>
                <a:cs typeface="Arial"/>
              </a:rPr>
              <a:t>El cierre depende de consolidar el flujo y finalizar la implementación de postura en San Marino.</a:t>
            </a:r>
          </a:p>
        </p:txBody>
      </p:sp>
    </p:spTree>
    <p:extLst>
      <p:ext uri="{BB962C8B-B14F-4D97-AF65-F5344CB8AC3E}">
        <p14:creationId xmlns:p14="http://schemas.microsoft.com/office/powerpoint/2010/main" val="18097481"/>
      </p:ext>
    </p:extLst>
  </p:cSld>
</p:sld>
</file>

<file path=ppt/slides/slide1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E0E929-6905-4EA7-9C18-31CF873A5098}"/>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Lo que falta: integración ERP</a:t>
            </a:r>
          </a:p>
        </p:txBody>
      </p:sp>
      <p:sp>
        <p:nvSpPr>
          <p:cNvPr id="2" name="">
            <a:extLst xmlns:a="http://schemas.openxmlformats.org/drawingml/2006/main">
              <a:ext uri="{FF2B5EF4-FFF2-40B4-BE49-F238E27FC236}">
                <a16:creationId xmlns:a16="http://schemas.microsoft.com/office/drawing/2014/main" id="{B7DC8075-01B0-4F29-A006-B527E5E1E940}"/>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787B283-03C7-404F-82AD-B4C2DC266765}"/>
              </a:ext>
            </a:extLst>
          </p:cNvPr>
          <p:cNvSpPr>
            <a:spLocks xmlns:a="http://schemas.openxmlformats.org/drawingml/2006/main" noGrp="1"/>
          </p:cNvSpPr>
          <p:nvPr/>
        </p:nvSpPr>
        <p:spPr>
          <a:xfrm xmlns:a="http://schemas.openxmlformats.org/drawingml/2006/main">
            <a:off x="704850" y="2076450"/>
            <a:ext cx="2952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4" name="">
            <a:extLst xmlns:a="http://schemas.openxmlformats.org/drawingml/2006/main">
              <a:ext uri="{FF2B5EF4-FFF2-40B4-BE49-F238E27FC236}">
                <a16:creationId xmlns:a16="http://schemas.microsoft.com/office/drawing/2014/main" id="{275E691D-0BC5-4CFF-838C-C79EC2FACE86}"/>
              </a:ext>
            </a:extLst>
          </p:cNvPr>
          <p:cNvSpPr>
            <a:spLocks xmlns:a="http://schemas.openxmlformats.org/drawingml/2006/main" noGrp="1"/>
          </p:cNvSpPr>
          <p:nvPr/>
        </p:nvSpPr>
        <p:spPr>
          <a:xfrm xmlns:a="http://schemas.openxmlformats.org/drawingml/2006/main">
            <a:off x="876300" y="2266950"/>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ItalGranja</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Operación avícola</a:t>
            </a:r>
          </a:p>
        </p:txBody>
      </p:sp>
      <p:sp>
        <p:nvSpPr>
          <p:cNvPr id="5" name="">
            <a:extLst xmlns:a="http://schemas.openxmlformats.org/drawingml/2006/main">
              <a:ext uri="{FF2B5EF4-FFF2-40B4-BE49-F238E27FC236}">
                <a16:creationId xmlns:a16="http://schemas.microsoft.com/office/drawing/2014/main" id="{B42A5C98-EE16-491D-8A34-272761E53B47}"/>
              </a:ext>
            </a:extLst>
          </p:cNvPr>
          <p:cNvSpPr>
            <a:spLocks xmlns:a="http://schemas.openxmlformats.org/drawingml/2006/main" noGrp="1"/>
          </p:cNvSpPr>
          <p:nvPr/>
        </p:nvSpPr>
        <p:spPr>
          <a:xfrm xmlns:a="http://schemas.openxmlformats.org/drawingml/2006/main">
            <a:off x="3933825" y="2571750"/>
            <a:ext cx="10477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FC2510-0A70-4954-BFE3-0FDC4D7ECD1B}"/>
              </a:ext>
            </a:extLst>
          </p:cNvPr>
          <p:cNvSpPr>
            <a:spLocks xmlns:a="http://schemas.openxmlformats.org/drawingml/2006/main" noGrp="1"/>
          </p:cNvSpPr>
          <p:nvPr/>
        </p:nvSpPr>
        <p:spPr>
          <a:xfrm xmlns:a="http://schemas.openxmlformats.org/drawingml/2006/main">
            <a:off x="5267325" y="2076450"/>
            <a:ext cx="28575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7" name="">
            <a:extLst xmlns:a="http://schemas.openxmlformats.org/drawingml/2006/main">
              <a:ext uri="{FF2B5EF4-FFF2-40B4-BE49-F238E27FC236}">
                <a16:creationId xmlns:a16="http://schemas.microsoft.com/office/drawing/2014/main" id="{68FB50E0-E104-4D45-8D73-1D18BF4E5984}"/>
              </a:ext>
            </a:extLst>
          </p:cNvPr>
          <p:cNvSpPr>
            <a:spLocks xmlns:a="http://schemas.openxmlformats.org/drawingml/2006/main" noGrp="1"/>
          </p:cNvSpPr>
          <p:nvPr/>
        </p:nvSpPr>
        <p:spPr>
          <a:xfrm xmlns:a="http://schemas.openxmlformats.org/drawingml/2006/main">
            <a:off x="5438775" y="2266950"/>
            <a:ext cx="2514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Integración pendiente</a:t>
            </a:r>
          </a:p>
        </p:txBody>
      </p:sp>
      <p:sp>
        <p:nvSpPr>
          <p:cNvPr id="8" name="">
            <a:extLst xmlns:a="http://schemas.openxmlformats.org/drawingml/2006/main">
              <a:ext uri="{FF2B5EF4-FFF2-40B4-BE49-F238E27FC236}">
                <a16:creationId xmlns:a16="http://schemas.microsoft.com/office/drawing/2014/main" id="{20245006-465B-4B78-A2A5-E130BB5255FF}"/>
              </a:ext>
            </a:extLst>
          </p:cNvPr>
          <p:cNvSpPr>
            <a:spLocks xmlns:a="http://schemas.openxmlformats.org/drawingml/2006/main" noGrp="1"/>
          </p:cNvSpPr>
          <p:nvPr/>
        </p:nvSpPr>
        <p:spPr>
          <a:xfrm xmlns:a="http://schemas.openxmlformats.org/drawingml/2006/main">
            <a:off x="8410575" y="2571750"/>
            <a:ext cx="514350" cy="209550"/>
          </a:xfrm>
          <a:prstGeom xmlns:a="http://schemas.openxmlformats.org/drawingml/2006/main" prst="rightArrow">
            <a:avLst/>
          </a:prstGeom>
          <a:solidFill xmlns:a="http://schemas.openxmlformats.org/drawingml/2006/main">
            <a:srgbClr val="E85C2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2BF5C6-3C56-4640-8D58-4C35FC29C4DB}"/>
              </a:ext>
            </a:extLst>
          </p:cNvPr>
          <p:cNvSpPr>
            <a:spLocks xmlns:a="http://schemas.openxmlformats.org/drawingml/2006/main" noGrp="1"/>
          </p:cNvSpPr>
          <p:nvPr/>
        </p:nvSpPr>
        <p:spPr>
          <a:xfrm xmlns:a="http://schemas.openxmlformats.org/drawingml/2006/main">
            <a:off x="9210675" y="2076450"/>
            <a:ext cx="233362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ln>
        </p:spPr>
      </p:sp>
      <p:sp>
        <p:nvSpPr>
          <p:cNvPr id="10" name="">
            <a:extLst xmlns:a="http://schemas.openxmlformats.org/drawingml/2006/main">
              <a:ext uri="{FF2B5EF4-FFF2-40B4-BE49-F238E27FC236}">
                <a16:creationId xmlns:a16="http://schemas.microsoft.com/office/drawing/2014/main" id="{567FD0FE-1CA8-40D0-8862-4A43320687C2}"/>
              </a:ext>
            </a:extLst>
          </p:cNvPr>
          <p:cNvSpPr>
            <a:spLocks xmlns:a="http://schemas.openxmlformats.org/drawingml/2006/main" noGrp="1"/>
          </p:cNvSpPr>
          <p:nvPr/>
        </p:nvSpPr>
        <p:spPr>
          <a:xfrm xmlns:a="http://schemas.openxmlformats.org/drawingml/2006/main">
            <a:off x="9382125" y="2266950"/>
            <a:ext cx="1990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ERP</a:t>
            </a:r>
          </a:p>
          <a:p xmlns:a="http://schemas.openxmlformats.org/drawingml/2006/main">
            <a:pPr>
              <a:defRPr sz="2025" b="1">
                <a:solidFill>
                  <a:srgbClr val="262A2D"/>
                </a:solidFill>
                <a:latin typeface="Arial"/>
                <a:ea typeface="Arial"/>
                <a:cs typeface="Arial"/>
              </a:defRPr>
            </a:pPr>
            <a:r>
              <a:rPr sz="2025" b="1">
                <a:solidFill>
                  <a:srgbClr val="262A2D"/>
                </a:solidFill>
                <a:latin typeface="Arial"/>
                <a:ea typeface="Arial"/>
                <a:cs typeface="Arial"/>
              </a:rPr>
              <a:t>Gestión empresarial</a:t>
            </a:r>
          </a:p>
        </p:txBody>
      </p:sp>
      <p:sp>
        <p:nvSpPr>
          <p:cNvPr id="11" name="">
            <a:extLst xmlns:a="http://schemas.openxmlformats.org/drawingml/2006/main">
              <a:ext uri="{FF2B5EF4-FFF2-40B4-BE49-F238E27FC236}">
                <a16:creationId xmlns:a16="http://schemas.microsoft.com/office/drawing/2014/main" id="{765D575F-42A4-43DC-B8D8-FC70E99B00FA}"/>
              </a:ext>
            </a:extLst>
          </p:cNvPr>
          <p:cNvSpPr>
            <a:spLocks xmlns:a="http://schemas.openxmlformats.org/drawingml/2006/main" noGrp="1"/>
          </p:cNvSpPr>
          <p:nvPr/>
        </p:nvSpPr>
        <p:spPr>
          <a:xfrm xmlns:a="http://schemas.openxmlformats.org/drawingml/2006/main">
            <a:off x="733425" y="3905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2181E"/>
                </a:solidFill>
                <a:latin typeface="Arial"/>
                <a:ea typeface="Arial"/>
                <a:cs typeface="Arial"/>
              </a:defRPr>
            </a:pPr>
            <a:r>
              <a:rPr sz="2475" b="1">
                <a:solidFill>
                  <a:srgbClr val="D2181E"/>
                </a:solidFill>
                <a:latin typeface="Arial"/>
                <a:ea typeface="Arial"/>
                <a:cs typeface="Arial"/>
              </a:rPr>
              <a:t>Qué falta acordar</a:t>
            </a:r>
          </a:p>
        </p:txBody>
      </p:sp>
      <p:sp>
        <p:nvSpPr>
          <p:cNvPr id="12" name="">
            <a:extLst xmlns:a="http://schemas.openxmlformats.org/drawingml/2006/main">
              <a:ext uri="{FF2B5EF4-FFF2-40B4-BE49-F238E27FC236}">
                <a16:creationId xmlns:a16="http://schemas.microsoft.com/office/drawing/2014/main" id="{C6E1DE57-9111-425F-A61A-19B2822D7415}"/>
              </a:ext>
            </a:extLst>
          </p:cNvPr>
          <p:cNvSpPr>
            <a:spLocks xmlns:a="http://schemas.openxmlformats.org/drawingml/2006/main" noGrp="1"/>
          </p:cNvSpPr>
          <p:nvPr/>
        </p:nvSpPr>
        <p:spPr>
          <a:xfrm xmlns:a="http://schemas.openxmlformats.org/drawingml/2006/main">
            <a:off x="733425" y="45910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2696D"/>
                </a:solidFill>
                <a:latin typeface="Arial"/>
                <a:ea typeface="Arial"/>
                <a:cs typeface="Arial"/>
              </a:defRPr>
            </a:pPr>
            <a:r>
              <a:rPr sz="2175" b="0">
                <a:solidFill>
                  <a:srgbClr val="62696D"/>
                </a:solidFill>
                <a:latin typeface="Arial"/>
                <a:ea typeface="Arial"/>
                <a:cs typeface="Arial"/>
              </a:rPr>
              <a:t>Datos a intercambiar, validaciones</a:t>
            </a:r>
          </a:p>
          <a:p xmlns:a="http://schemas.openxmlformats.org/drawingml/2006/main">
            <a:pPr>
              <a:defRPr sz="2175" b="0">
                <a:solidFill>
                  <a:srgbClr val="62696D"/>
                </a:solidFill>
                <a:latin typeface="Arial"/>
                <a:ea typeface="Arial"/>
                <a:cs typeface="Arial"/>
              </a:defRPr>
            </a:pPr>
            <a:r>
              <a:rPr sz="2175" b="0">
                <a:solidFill>
                  <a:srgbClr val="62696D"/>
                </a:solidFill>
                <a:latin typeface="Arial"/>
                <a:ea typeface="Arial"/>
                <a:cs typeface="Arial"/>
              </a:rPr>
              <a:t>y frecuencia de actualización.</a:t>
            </a:r>
          </a:p>
        </p:txBody>
      </p:sp>
      <p:sp>
        <p:nvSpPr>
          <p:cNvPr id="13" name="">
            <a:extLst xmlns:a="http://schemas.openxmlformats.org/drawingml/2006/main">
              <a:ext uri="{FF2B5EF4-FFF2-40B4-BE49-F238E27FC236}">
                <a16:creationId xmlns:a16="http://schemas.microsoft.com/office/drawing/2014/main" id="{C7EF4089-6B11-4CCE-BB92-1FF86632C7AB}"/>
              </a:ext>
            </a:extLst>
          </p:cNvPr>
          <p:cNvSpPr>
            <a:spLocks xmlns:a="http://schemas.openxmlformats.org/drawingml/2006/main" noGrp="1"/>
          </p:cNvSpPr>
          <p:nvPr/>
        </p:nvSpPr>
        <p:spPr>
          <a:xfrm xmlns:a="http://schemas.openxmlformats.org/drawingml/2006/main">
            <a:off x="6572250" y="390525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62A2D"/>
                </a:solidFill>
                <a:latin typeface="Arial"/>
                <a:ea typeface="Arial"/>
                <a:cs typeface="Arial"/>
              </a:defRPr>
            </a:pPr>
            <a:r>
              <a:rPr sz="2475" b="1">
                <a:solidFill>
                  <a:srgbClr val="262A2D"/>
                </a:solidFill>
                <a:latin typeface="Arial"/>
                <a:ea typeface="Arial"/>
                <a:cs typeface="Arial"/>
              </a:rPr>
              <a:t>Evolución por empresa</a:t>
            </a:r>
          </a:p>
        </p:txBody>
      </p:sp>
      <p:sp>
        <p:nvSpPr>
          <p:cNvPr id="14" name="">
            <a:extLst xmlns:a="http://schemas.openxmlformats.org/drawingml/2006/main">
              <a:ext uri="{FF2B5EF4-FFF2-40B4-BE49-F238E27FC236}">
                <a16:creationId xmlns:a16="http://schemas.microsoft.com/office/drawing/2014/main" id="{7CBA3777-FA97-44A7-9EDA-743C3D011D8D}"/>
              </a:ext>
            </a:extLst>
          </p:cNvPr>
          <p:cNvSpPr>
            <a:spLocks xmlns:a="http://schemas.openxmlformats.org/drawingml/2006/main" noGrp="1"/>
          </p:cNvSpPr>
          <p:nvPr/>
        </p:nvSpPr>
        <p:spPr>
          <a:xfrm xmlns:a="http://schemas.openxmlformats.org/drawingml/2006/main">
            <a:off x="6572250" y="4591050"/>
            <a:ext cx="4905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Ajustes de flujo y parametrizaciones</a:t>
            </a:r>
          </a:p>
          <a:p xmlns:a="http://schemas.openxmlformats.org/drawingml/2006/main">
            <a:pPr>
              <a:defRPr sz="2100" b="0">
                <a:solidFill>
                  <a:srgbClr val="62696D"/>
                </a:solidFill>
                <a:latin typeface="Arial"/>
                <a:ea typeface="Arial"/>
                <a:cs typeface="Arial"/>
              </a:defRPr>
            </a:pPr>
            <a:r>
              <a:rPr sz="2100" b="0">
                <a:solidFill>
                  <a:srgbClr val="62696D"/>
                </a:solidFill>
                <a:latin typeface="Arial"/>
                <a:ea typeface="Arial"/>
                <a:cs typeface="Arial"/>
              </a:rPr>
              <a:t>según la operación de cada empresa.</a:t>
            </a:r>
          </a:p>
        </p:txBody>
      </p:sp>
    </p:spTree>
    <p:extLst>
      <p:ext uri="{BB962C8B-B14F-4D97-AF65-F5344CB8AC3E}">
        <p14:creationId xmlns:p14="http://schemas.microsoft.com/office/powerpoint/2010/main" val="1919487010"/>
      </p:ext>
    </p:extLst>
  </p:cSld>
</p:sld>
</file>

<file path=ppt/slides/slide1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F12071-9E01-4975-8606-9C208D3C37A7}"/>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Demostración en vivo</a:t>
            </a:r>
          </a:p>
        </p:txBody>
      </p:sp>
      <p:sp>
        <p:nvSpPr>
          <p:cNvPr id="2" name="">
            <a:extLst xmlns:a="http://schemas.openxmlformats.org/drawingml/2006/main">
              <a:ext uri="{FF2B5EF4-FFF2-40B4-BE49-F238E27FC236}">
                <a16:creationId xmlns:a16="http://schemas.microsoft.com/office/drawing/2014/main" id="{27D33AFA-5952-475E-B7D4-674B7B279B6D}"/>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BB29A63-5665-478F-8107-C2E5739DB9E5}"/>
              </a:ext>
            </a:extLst>
          </p:cNvPr>
          <p:cNvSpPr>
            <a:spLocks xmlns:a="http://schemas.openxmlformats.org/drawingml/2006/main" noGrp="1"/>
          </p:cNvSpPr>
          <p:nvPr/>
        </p:nvSpPr>
        <p:spPr>
          <a:xfrm xmlns:a="http://schemas.openxmlformats.org/drawingml/2006/main">
            <a:off x="704850" y="1800225"/>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181E"/>
                </a:solidFill>
                <a:latin typeface="Arial"/>
                <a:ea typeface="Arial"/>
                <a:cs typeface="Arial"/>
              </a:defRPr>
            </a:pPr>
            <a:r>
              <a:rPr sz="4800" b="1">
                <a:solidFill>
                  <a:srgbClr val="D2181E"/>
                </a:solidFill>
                <a:latin typeface="Arial"/>
                <a:ea typeface="Arial"/>
                <a:cs typeface="Arial"/>
              </a:rPr>
              <a:t>8 minutos</a:t>
            </a:r>
          </a:p>
        </p:txBody>
      </p:sp>
      <p:sp>
        <p:nvSpPr>
          <p:cNvPr id="4" name="">
            <a:extLst xmlns:a="http://schemas.openxmlformats.org/drawingml/2006/main">
              <a:ext uri="{FF2B5EF4-FFF2-40B4-BE49-F238E27FC236}">
                <a16:creationId xmlns:a16="http://schemas.microsoft.com/office/drawing/2014/main" id="{76AC27A6-9973-4CA2-88E1-11959180ADE6}"/>
              </a:ext>
            </a:extLst>
          </p:cNvPr>
          <p:cNvSpPr>
            <a:spLocks xmlns:a="http://schemas.openxmlformats.org/drawingml/2006/main" noGrp="1"/>
          </p:cNvSpPr>
          <p:nvPr/>
        </p:nvSpPr>
        <p:spPr>
          <a:xfrm xmlns:a="http://schemas.openxmlformats.org/drawingml/2006/main">
            <a:off x="6286500" y="1752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C83CD1-BEAA-47F5-A7C5-1E2541B6D46B}"/>
              </a:ext>
            </a:extLst>
          </p:cNvPr>
          <p:cNvSpPr>
            <a:spLocks xmlns:a="http://schemas.openxmlformats.org/drawingml/2006/main" noGrp="1"/>
          </p:cNvSpPr>
          <p:nvPr/>
        </p:nvSpPr>
        <p:spPr>
          <a:xfrm xmlns:a="http://schemas.openxmlformats.org/drawingml/2006/main">
            <a:off x="7219950" y="17526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Login y contexto</a:t>
            </a:r>
          </a:p>
        </p:txBody>
      </p:sp>
      <p:sp>
        <p:nvSpPr>
          <p:cNvPr id="6" name="">
            <a:extLst xmlns:a="http://schemas.openxmlformats.org/drawingml/2006/main">
              <a:ext uri="{FF2B5EF4-FFF2-40B4-BE49-F238E27FC236}">
                <a16:creationId xmlns:a16="http://schemas.microsoft.com/office/drawing/2014/main" id="{8F53416F-5183-4EA5-B92E-E8E743A6541E}"/>
              </a:ext>
            </a:extLst>
          </p:cNvPr>
          <p:cNvSpPr>
            <a:spLocks xmlns:a="http://schemas.openxmlformats.org/drawingml/2006/main" noGrp="1"/>
          </p:cNvSpPr>
          <p:nvPr/>
        </p:nvSpPr>
        <p:spPr>
          <a:xfrm xmlns:a="http://schemas.openxmlformats.org/drawingml/2006/main">
            <a:off x="7219950" y="22193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Empresa, granja y lote</a:t>
            </a:r>
          </a:p>
        </p:txBody>
      </p:sp>
      <p:sp>
        <p:nvSpPr>
          <p:cNvPr id="7" name="">
            <a:extLst xmlns:a="http://schemas.openxmlformats.org/drawingml/2006/main">
              <a:ext uri="{FF2B5EF4-FFF2-40B4-BE49-F238E27FC236}">
                <a16:creationId xmlns:a16="http://schemas.microsoft.com/office/drawing/2014/main" id="{73B156DD-C571-488A-A316-B75881B350D3}"/>
              </a:ext>
            </a:extLst>
          </p:cNvPr>
          <p:cNvSpPr>
            <a:spLocks xmlns:a="http://schemas.openxmlformats.org/drawingml/2006/main" noGrp="1"/>
          </p:cNvSpPr>
          <p:nvPr/>
        </p:nvSpPr>
        <p:spPr>
          <a:xfrm xmlns:a="http://schemas.openxmlformats.org/drawingml/2006/main">
            <a:off x="6286500" y="28003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EAF7EC8-A7E0-4A48-95A8-B678941B4AA3}"/>
              </a:ext>
            </a:extLst>
          </p:cNvPr>
          <p:cNvSpPr>
            <a:spLocks xmlns:a="http://schemas.openxmlformats.org/drawingml/2006/main" noGrp="1"/>
          </p:cNvSpPr>
          <p:nvPr/>
        </p:nvSpPr>
        <p:spPr>
          <a:xfrm xmlns:a="http://schemas.openxmlformats.org/drawingml/2006/main">
            <a:off x="7219950" y="28003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Alimento y seguimiento</a:t>
            </a:r>
          </a:p>
        </p:txBody>
      </p:sp>
      <p:sp>
        <p:nvSpPr>
          <p:cNvPr id="9" name="">
            <a:extLst xmlns:a="http://schemas.openxmlformats.org/drawingml/2006/main">
              <a:ext uri="{FF2B5EF4-FFF2-40B4-BE49-F238E27FC236}">
                <a16:creationId xmlns:a16="http://schemas.microsoft.com/office/drawing/2014/main" id="{0387093A-76D3-429B-AE3A-C61AFF825D91}"/>
              </a:ext>
            </a:extLst>
          </p:cNvPr>
          <p:cNvSpPr>
            <a:spLocks xmlns:a="http://schemas.openxmlformats.org/drawingml/2006/main" noGrp="1"/>
          </p:cNvSpPr>
          <p:nvPr/>
        </p:nvSpPr>
        <p:spPr>
          <a:xfrm xmlns:a="http://schemas.openxmlformats.org/drawingml/2006/main">
            <a:off x="7219950" y="32670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Ingreso, consumo y novedad</a:t>
            </a:r>
          </a:p>
        </p:txBody>
      </p:sp>
      <p:sp>
        <p:nvSpPr>
          <p:cNvPr id="10" name="">
            <a:extLst xmlns:a="http://schemas.openxmlformats.org/drawingml/2006/main">
              <a:ext uri="{FF2B5EF4-FFF2-40B4-BE49-F238E27FC236}">
                <a16:creationId xmlns:a16="http://schemas.microsoft.com/office/drawing/2014/main" id="{F48B61C7-8872-494B-ACFE-68095763A2CD}"/>
              </a:ext>
            </a:extLst>
          </p:cNvPr>
          <p:cNvSpPr>
            <a:spLocks xmlns:a="http://schemas.openxmlformats.org/drawingml/2006/main" noGrp="1"/>
          </p:cNvSpPr>
          <p:nvPr/>
        </p:nvSpPr>
        <p:spPr>
          <a:xfrm xmlns:a="http://schemas.openxmlformats.org/drawingml/2006/main">
            <a:off x="6286500" y="38481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8DBEB5B-C3B5-44A3-8F3B-5D4196E7D8BA}"/>
              </a:ext>
            </a:extLst>
          </p:cNvPr>
          <p:cNvSpPr>
            <a:spLocks xmlns:a="http://schemas.openxmlformats.org/drawingml/2006/main" noGrp="1"/>
          </p:cNvSpPr>
          <p:nvPr/>
        </p:nvSpPr>
        <p:spPr>
          <a:xfrm xmlns:a="http://schemas.openxmlformats.org/drawingml/2006/main">
            <a:off x="7219950" y="38481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Producción de huevos</a:t>
            </a:r>
          </a:p>
        </p:txBody>
      </p:sp>
      <p:sp>
        <p:nvSpPr>
          <p:cNvPr id="12" name="">
            <a:extLst xmlns:a="http://schemas.openxmlformats.org/drawingml/2006/main">
              <a:ext uri="{FF2B5EF4-FFF2-40B4-BE49-F238E27FC236}">
                <a16:creationId xmlns:a16="http://schemas.microsoft.com/office/drawing/2014/main" id="{EFDB0D8B-BD1F-42CC-9855-1CC32D7CAE85}"/>
              </a:ext>
            </a:extLst>
          </p:cNvPr>
          <p:cNvSpPr>
            <a:spLocks xmlns:a="http://schemas.openxmlformats.org/drawingml/2006/main" noGrp="1"/>
          </p:cNvSpPr>
          <p:nvPr/>
        </p:nvSpPr>
        <p:spPr>
          <a:xfrm xmlns:a="http://schemas.openxmlformats.org/drawingml/2006/main">
            <a:off x="7219950" y="43148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Cantidad y clasificación</a:t>
            </a:r>
          </a:p>
        </p:txBody>
      </p:sp>
      <p:sp>
        <p:nvSpPr>
          <p:cNvPr id="13" name="">
            <a:extLst xmlns:a="http://schemas.openxmlformats.org/drawingml/2006/main">
              <a:ext uri="{FF2B5EF4-FFF2-40B4-BE49-F238E27FC236}">
                <a16:creationId xmlns:a16="http://schemas.microsoft.com/office/drawing/2014/main" id="{E06FBAC7-0F80-4E50-AA29-5142A04410BC}"/>
              </a:ext>
            </a:extLst>
          </p:cNvPr>
          <p:cNvSpPr>
            <a:spLocks xmlns:a="http://schemas.openxmlformats.org/drawingml/2006/main" noGrp="1"/>
          </p:cNvSpPr>
          <p:nvPr/>
        </p:nvSpPr>
        <p:spPr>
          <a:xfrm xmlns:a="http://schemas.openxmlformats.org/drawingml/2006/main">
            <a:off x="6286500" y="4895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85C25"/>
                </a:solidFill>
                <a:latin typeface="Arial"/>
                <a:ea typeface="Arial"/>
                <a:cs typeface="Arial"/>
              </a:defRPr>
            </a:pPr>
            <a:r>
              <a:rPr sz="2550" b="1">
                <a:solidFill>
                  <a:srgbClr val="E85C2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02CFC0A-1D15-48FA-A430-FC867B40153B}"/>
              </a:ext>
            </a:extLst>
          </p:cNvPr>
          <p:cNvSpPr>
            <a:spLocks xmlns:a="http://schemas.openxmlformats.org/drawingml/2006/main" noGrp="1"/>
          </p:cNvSpPr>
          <p:nvPr/>
        </p:nvSpPr>
        <p:spPr>
          <a:xfrm xmlns:a="http://schemas.openxmlformats.org/drawingml/2006/main">
            <a:off x="7219950" y="48958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62A2D"/>
                </a:solidFill>
                <a:latin typeface="Arial"/>
                <a:ea typeface="Arial"/>
                <a:cs typeface="Arial"/>
              </a:defRPr>
            </a:pPr>
            <a:r>
              <a:rPr sz="2175" b="1">
                <a:solidFill>
                  <a:srgbClr val="262A2D"/>
                </a:solidFill>
                <a:latin typeface="Arial"/>
                <a:ea typeface="Arial"/>
                <a:cs typeface="Arial"/>
              </a:rPr>
              <a:t>Resultado visible</a:t>
            </a:r>
          </a:p>
        </p:txBody>
      </p:sp>
      <p:sp>
        <p:nvSpPr>
          <p:cNvPr id="15" name="">
            <a:extLst xmlns:a="http://schemas.openxmlformats.org/drawingml/2006/main">
              <a:ext uri="{FF2B5EF4-FFF2-40B4-BE49-F238E27FC236}">
                <a16:creationId xmlns:a16="http://schemas.microsoft.com/office/drawing/2014/main" id="{521385D5-DFCA-4878-AC9E-8579FDB7F5A2}"/>
              </a:ext>
            </a:extLst>
          </p:cNvPr>
          <p:cNvSpPr>
            <a:spLocks xmlns:a="http://schemas.openxmlformats.org/drawingml/2006/main" noGrp="1"/>
          </p:cNvSpPr>
          <p:nvPr/>
        </p:nvSpPr>
        <p:spPr>
          <a:xfrm xmlns:a="http://schemas.openxmlformats.org/drawingml/2006/main">
            <a:off x="7219950" y="53625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696D"/>
                </a:solidFill>
                <a:latin typeface="Arial"/>
                <a:ea typeface="Arial"/>
                <a:cs typeface="Arial"/>
              </a:defRPr>
            </a:pPr>
            <a:r>
              <a:rPr sz="1725" b="0">
                <a:solidFill>
                  <a:srgbClr val="62696D"/>
                </a:solidFill>
                <a:latin typeface="Arial"/>
                <a:ea typeface="Arial"/>
                <a:cs typeface="Arial"/>
              </a:rPr>
              <a:t>Registro, consulta y reporte</a:t>
            </a:r>
          </a:p>
        </p:txBody>
      </p:sp>
      <p:sp>
        <p:nvSpPr>
          <p:cNvPr id="16" name="">
            <a:extLst xmlns:a="http://schemas.openxmlformats.org/drawingml/2006/main">
              <a:ext uri="{FF2B5EF4-FFF2-40B4-BE49-F238E27FC236}">
                <a16:creationId xmlns:a16="http://schemas.microsoft.com/office/drawing/2014/main" id="{A805C335-FA88-4921-B037-BF7901D36EEA}"/>
              </a:ext>
            </a:extLst>
          </p:cNvPr>
          <p:cNvSpPr>
            <a:spLocks xmlns:a="http://schemas.openxmlformats.org/drawingml/2006/main" noGrp="1"/>
          </p:cNvSpPr>
          <p:nvPr/>
        </p:nvSpPr>
        <p:spPr>
          <a:xfrm xmlns:a="http://schemas.openxmlformats.org/drawingml/2006/main">
            <a:off x="742950" y="3105150"/>
            <a:ext cx="4857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62A2D"/>
                </a:solidFill>
                <a:latin typeface="Arial"/>
                <a:ea typeface="Arial"/>
                <a:cs typeface="Arial"/>
              </a:defRPr>
            </a:pPr>
            <a:r>
              <a:rPr sz="2925" b="1">
                <a:solidFill>
                  <a:srgbClr val="262A2D"/>
                </a:solidFill>
                <a:latin typeface="Arial"/>
                <a:ea typeface="Arial"/>
                <a:cs typeface="Arial"/>
              </a:rPr>
              <a:t>Un mismo contexto</a:t>
            </a:r>
          </a:p>
          <a:p xmlns:a="http://schemas.openxmlformats.org/drawingml/2006/main">
            <a:pPr>
              <a:defRPr sz="2925" b="1">
                <a:solidFill>
                  <a:srgbClr val="262A2D"/>
                </a:solidFill>
                <a:latin typeface="Arial"/>
                <a:ea typeface="Arial"/>
                <a:cs typeface="Arial"/>
              </a:defRPr>
            </a:pPr>
            <a:r>
              <a:rPr sz="2925" b="1">
                <a:solidFill>
                  <a:srgbClr val="262A2D"/>
                </a:solidFill>
                <a:latin typeface="Arial"/>
                <a:ea typeface="Arial"/>
                <a:cs typeface="Arial"/>
              </a:rPr>
              <a:t>durante todo el recorrido</a:t>
            </a:r>
          </a:p>
        </p:txBody>
      </p:sp>
      <p:sp>
        <p:nvSpPr>
          <p:cNvPr id="17" name="">
            <a:extLst xmlns:a="http://schemas.openxmlformats.org/drawingml/2006/main">
              <a:ext uri="{FF2B5EF4-FFF2-40B4-BE49-F238E27FC236}">
                <a16:creationId xmlns:a16="http://schemas.microsoft.com/office/drawing/2014/main" id="{44F28A8E-8309-433F-9E1F-72F562312C45}"/>
              </a:ext>
            </a:extLst>
          </p:cNvPr>
          <p:cNvSpPr>
            <a:spLocks xmlns:a="http://schemas.openxmlformats.org/drawingml/2006/main" noGrp="1"/>
          </p:cNvSpPr>
          <p:nvPr/>
        </p:nvSpPr>
        <p:spPr>
          <a:xfrm xmlns:a="http://schemas.openxmlformats.org/drawingml/2006/main">
            <a:off x="742950" y="486727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Captura en granja,</a:t>
            </a:r>
          </a:p>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consulta para decidir.</a:t>
            </a:r>
          </a:p>
        </p:txBody>
      </p:sp>
    </p:spTree>
    <p:extLst>
      <p:ext uri="{BB962C8B-B14F-4D97-AF65-F5344CB8AC3E}">
        <p14:creationId xmlns:p14="http://schemas.microsoft.com/office/powerpoint/2010/main" val="31621349"/>
      </p:ext>
    </p:extLst>
  </p:cSld>
</p:sld>
</file>

<file path=ppt/slides/slide1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97DD4-1F92-4CA3-BB43-6557B8098FA2}"/>
              </a:ext>
            </a:extLst>
          </p:cNvPr>
          <p:cNvSpPr>
            <a:spLocks xmlns:a="http://schemas.openxmlformats.org/drawingml/2006/main" noGrp="1"/>
          </p:cNvSpPr>
          <p:nvPr/>
        </p:nvSpPr>
        <p:spPr>
          <a:xfrm xmlns:a="http://schemas.openxmlformats.org/drawingml/2006/main">
            <a:off x="666750" y="495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62A2D"/>
                </a:solidFill>
                <a:latin typeface="Arial"/>
                <a:ea typeface="Arial"/>
                <a:cs typeface="Arial"/>
              </a:defRPr>
            </a:pPr>
            <a:r>
              <a:rPr sz="3600" b="1">
                <a:solidFill>
                  <a:srgbClr val="262A2D"/>
                </a:solidFill>
                <a:latin typeface="Arial"/>
                <a:ea typeface="Arial"/>
                <a:cs typeface="Arial"/>
              </a:rPr>
              <a:t>Preguntas y próximos acuerdos</a:t>
            </a:r>
          </a:p>
        </p:txBody>
      </p:sp>
      <p:sp>
        <p:nvSpPr>
          <p:cNvPr id="2" name="">
            <a:extLst xmlns:a="http://schemas.openxmlformats.org/drawingml/2006/main">
              <a:ext uri="{FF2B5EF4-FFF2-40B4-BE49-F238E27FC236}">
                <a16:creationId xmlns:a16="http://schemas.microsoft.com/office/drawing/2014/main" id="{0C32E43E-73F1-4137-AAD8-89E481876921}"/>
              </a:ext>
            </a:extLst>
          </p:cNvPr>
          <p:cNvSpPr>
            <a:spLocks xmlns:a="http://schemas.openxmlformats.org/drawingml/2006/main" noGrp="1"/>
          </p:cNvSpPr>
          <p:nvPr/>
        </p:nvSpPr>
        <p:spPr>
          <a:xfrm xmlns:a="http://schemas.openxmlformats.org/drawingml/2006/main">
            <a:off x="11125200" y="62388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696D"/>
                </a:solidFill>
                <a:latin typeface="Arial"/>
                <a:ea typeface="Arial"/>
                <a:cs typeface="Arial"/>
              </a:defRPr>
            </a:pPr>
            <a:r>
              <a:rPr sz="1350" b="0">
                <a:solidFill>
                  <a:srgbClr val="6269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26A1E702-6102-4DCA-B4DD-1C07952BDE32}"/>
              </a:ext>
            </a:extLst>
          </p:cNvPr>
          <p:cNvSpPr>
            <a:spLocks xmlns:a="http://schemas.openxmlformats.org/drawingml/2006/main" noGrp="1"/>
          </p:cNvSpPr>
          <p:nvPr/>
        </p:nvSpPr>
        <p:spPr>
          <a:xfrm xmlns:a="http://schemas.openxmlformats.org/drawingml/2006/main">
            <a:off x="733425" y="19716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ERP</a:t>
            </a:r>
          </a:p>
        </p:txBody>
      </p:sp>
      <p:sp>
        <p:nvSpPr>
          <p:cNvPr id="4" name="">
            <a:extLst xmlns:a="http://schemas.openxmlformats.org/drawingml/2006/main">
              <a:ext uri="{FF2B5EF4-FFF2-40B4-BE49-F238E27FC236}">
                <a16:creationId xmlns:a16="http://schemas.microsoft.com/office/drawing/2014/main" id="{9A78B944-DB1F-4EAF-965C-75F0DF373BAE}"/>
              </a:ext>
            </a:extLst>
          </p:cNvPr>
          <p:cNvSpPr>
            <a:spLocks xmlns:a="http://schemas.openxmlformats.org/drawingml/2006/main" noGrp="1"/>
          </p:cNvSpPr>
          <p:nvPr/>
        </p:nvSpPr>
        <p:spPr>
          <a:xfrm xmlns:a="http://schemas.openxmlformats.org/drawingml/2006/main">
            <a:off x="733425" y="27717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62A2D"/>
                </a:solidFill>
                <a:latin typeface="Arial"/>
                <a:ea typeface="Arial"/>
                <a:cs typeface="Arial"/>
              </a:defRPr>
            </a:pPr>
            <a:r>
              <a:rPr sz="2400" b="0">
                <a:solidFill>
                  <a:srgbClr val="262A2D"/>
                </a:solidFill>
                <a:latin typeface="Arial"/>
                <a:ea typeface="Arial"/>
                <a:cs typeface="Arial"/>
              </a:rPr>
              <a:t>¿Qué información</a:t>
            </a:r>
          </a:p>
          <a:p xmlns:a="http://schemas.openxmlformats.org/drawingml/2006/main">
            <a:pPr>
              <a:defRPr sz="2400" b="0">
                <a:solidFill>
                  <a:srgbClr val="262A2D"/>
                </a:solidFill>
                <a:latin typeface="Arial"/>
                <a:ea typeface="Arial"/>
                <a:cs typeface="Arial"/>
              </a:defRPr>
            </a:pPr>
            <a:r>
              <a:rPr sz="2400" b="0">
                <a:solidFill>
                  <a:srgbClr val="262A2D"/>
                </a:solidFill>
                <a:latin typeface="Arial"/>
                <a:ea typeface="Arial"/>
                <a:cs typeface="Arial"/>
              </a:rPr>
              <a:t>priorizamos integrar?</a:t>
            </a:r>
          </a:p>
        </p:txBody>
      </p:sp>
      <p:sp>
        <p:nvSpPr>
          <p:cNvPr id="5" name="">
            <a:extLst xmlns:a="http://schemas.openxmlformats.org/drawingml/2006/main">
              <a:ext uri="{FF2B5EF4-FFF2-40B4-BE49-F238E27FC236}">
                <a16:creationId xmlns:a16="http://schemas.microsoft.com/office/drawing/2014/main" id="{B082EDE3-F56A-451D-A7D6-CAE60EE5F3A6}"/>
              </a:ext>
            </a:extLst>
          </p:cNvPr>
          <p:cNvSpPr>
            <a:spLocks xmlns:a="http://schemas.openxmlformats.org/drawingml/2006/main" noGrp="1"/>
          </p:cNvSpPr>
          <p:nvPr/>
        </p:nvSpPr>
        <p:spPr>
          <a:xfrm xmlns:a="http://schemas.openxmlformats.org/drawingml/2006/main">
            <a:off x="4505325" y="19716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Postura y móvil</a:t>
            </a:r>
          </a:p>
        </p:txBody>
      </p:sp>
      <p:sp>
        <p:nvSpPr>
          <p:cNvPr id="6" name="">
            <a:extLst xmlns:a="http://schemas.openxmlformats.org/drawingml/2006/main">
              <a:ext uri="{FF2B5EF4-FFF2-40B4-BE49-F238E27FC236}">
                <a16:creationId xmlns:a16="http://schemas.microsoft.com/office/drawing/2014/main" id="{F6C60D18-FCC0-4CEA-A77A-1252CBFCB870}"/>
              </a:ext>
            </a:extLst>
          </p:cNvPr>
          <p:cNvSpPr>
            <a:spLocks xmlns:a="http://schemas.openxmlformats.org/drawingml/2006/main" noGrp="1"/>
          </p:cNvSpPr>
          <p:nvPr/>
        </p:nvSpPr>
        <p:spPr>
          <a:xfrm xmlns:a="http://schemas.openxmlformats.org/drawingml/2006/main">
            <a:off x="4505325" y="2771775"/>
            <a:ext cx="34766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¿Qué falta para cerrar</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postura y preparar</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el despliegue móvil?</a:t>
            </a:r>
          </a:p>
        </p:txBody>
      </p:sp>
      <p:sp>
        <p:nvSpPr>
          <p:cNvPr id="7" name="">
            <a:extLst xmlns:a="http://schemas.openxmlformats.org/drawingml/2006/main">
              <a:ext uri="{FF2B5EF4-FFF2-40B4-BE49-F238E27FC236}">
                <a16:creationId xmlns:a16="http://schemas.microsoft.com/office/drawing/2014/main" id="{BE62284B-8414-4B61-AA2C-A7E36BFFA873}"/>
              </a:ext>
            </a:extLst>
          </p:cNvPr>
          <p:cNvSpPr>
            <a:spLocks xmlns:a="http://schemas.openxmlformats.org/drawingml/2006/main" noGrp="1"/>
          </p:cNvSpPr>
          <p:nvPr/>
        </p:nvSpPr>
        <p:spPr>
          <a:xfrm xmlns:a="http://schemas.openxmlformats.org/drawingml/2006/main">
            <a:off x="8496300" y="19716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2181E"/>
                </a:solidFill>
                <a:latin typeface="Arial"/>
                <a:ea typeface="Arial"/>
                <a:cs typeface="Arial"/>
              </a:defRPr>
            </a:pPr>
            <a:r>
              <a:rPr sz="3225" b="1">
                <a:solidFill>
                  <a:srgbClr val="D2181E"/>
                </a:solidFill>
                <a:latin typeface="Arial"/>
                <a:ea typeface="Arial"/>
                <a:cs typeface="Arial"/>
              </a:rPr>
              <a:t>Por empresa</a:t>
            </a:r>
          </a:p>
        </p:txBody>
      </p:sp>
      <p:sp>
        <p:nvSpPr>
          <p:cNvPr id="8" name="">
            <a:extLst xmlns:a="http://schemas.openxmlformats.org/drawingml/2006/main">
              <a:ext uri="{FF2B5EF4-FFF2-40B4-BE49-F238E27FC236}">
                <a16:creationId xmlns:a16="http://schemas.microsoft.com/office/drawing/2014/main" id="{85A11CC4-42B1-4249-8053-C11E4AD11604}"/>
              </a:ext>
            </a:extLst>
          </p:cNvPr>
          <p:cNvSpPr>
            <a:spLocks xmlns:a="http://schemas.openxmlformats.org/drawingml/2006/main" noGrp="1"/>
          </p:cNvSpPr>
          <p:nvPr/>
        </p:nvSpPr>
        <p:spPr>
          <a:xfrm xmlns:a="http://schemas.openxmlformats.org/drawingml/2006/main">
            <a:off x="8496300" y="2771775"/>
            <a:ext cx="304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¿Qué mejoras</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priorizamos según</a:t>
            </a:r>
          </a:p>
          <a:p xmlns:a="http://schemas.openxmlformats.org/drawingml/2006/main">
            <a:pPr>
              <a:defRPr sz="2325" b="0">
                <a:solidFill>
                  <a:srgbClr val="262A2D"/>
                </a:solidFill>
                <a:latin typeface="Arial"/>
                <a:ea typeface="Arial"/>
                <a:cs typeface="Arial"/>
              </a:defRPr>
            </a:pPr>
            <a:r>
              <a:rPr sz="2325" b="0">
                <a:solidFill>
                  <a:srgbClr val="262A2D"/>
                </a:solidFill>
                <a:latin typeface="Arial"/>
                <a:ea typeface="Arial"/>
                <a:cs typeface="Arial"/>
              </a:rPr>
              <a:t>la operación?</a:t>
            </a:r>
          </a:p>
        </p:txBody>
      </p:sp>
      <p:sp>
        <p:nvSpPr>
          <p:cNvPr id="9" name="">
            <a:extLst xmlns:a="http://schemas.openxmlformats.org/drawingml/2006/main">
              <a:ext uri="{FF2B5EF4-FFF2-40B4-BE49-F238E27FC236}">
                <a16:creationId xmlns:a16="http://schemas.microsoft.com/office/drawing/2014/main" id="{ACF8B33B-993F-4FDE-9062-1B9CE0C9EE87}"/>
              </a:ext>
            </a:extLst>
          </p:cNvPr>
          <p:cNvSpPr>
            <a:spLocks xmlns:a="http://schemas.openxmlformats.org/drawingml/2006/main" noGrp="1"/>
          </p:cNvSpPr>
          <p:nvPr/>
        </p:nvSpPr>
        <p:spPr>
          <a:xfrm xmlns:a="http://schemas.openxmlformats.org/drawingml/2006/main">
            <a:off x="742950" y="55054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2696D"/>
                </a:solidFill>
                <a:latin typeface="Arial"/>
                <a:ea typeface="Arial"/>
                <a:cs typeface="Arial"/>
              </a:defRPr>
            </a:pPr>
            <a:r>
              <a:rPr sz="2250" b="0">
                <a:solidFill>
                  <a:srgbClr val="62696D"/>
                </a:solidFill>
                <a:latin typeface="Arial"/>
                <a:ea typeface="Arial"/>
                <a:cs typeface="Arial"/>
              </a:rPr>
              <a:t>Los acuerdos definirán responsables y siguientes pasos.</a:t>
            </a:r>
          </a:p>
        </p:txBody>
      </p:sp>
    </p:spTree>
    <p:extLst>
      <p:ext uri="{BB962C8B-B14F-4D97-AF65-F5344CB8AC3E}">
        <p14:creationId xmlns:p14="http://schemas.microsoft.com/office/powerpoint/2010/main" val="1788553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2026-09-14T14:20:19.8400000Z</dcterms:created>
  <dcterms:modified xsi:type="dcterms:W3CDTF">2026-09-14T14:20:19.8400000Z</dcterms:modified>
</coreProperties>
</file>