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bad7d1d12d4df3" /><Relationship Type="http://schemas.openxmlformats.org/officeDocument/2006/relationships/extended-properties" Target="/docProps/app.xml" Id="Rcf87bbc8e53d4f13" /><Relationship Type="http://schemas.openxmlformats.org/officeDocument/2006/relationships/officeDocument" Target="/ppt/presentation.xml" Id="R69037c5684d346dc" /></Relationships>
</file>

<file path=ppt/presentation.xml><?xml version="1.0" encoding="utf-8"?>
<p:presentation xmlns:p="http://schemas.openxmlformats.org/presentationml/2006/main">
  <p:sldMasterIdLst>
    <p:sldMasterId xmlns:r="http://schemas.openxmlformats.org/officeDocument/2006/relationships" id="2147483648" r:id="R0d828d2b58a2474c"/>
  </p:sldMasterIdLst>
  <p:notesMasterIdLst>
    <p:notesMasterId xmlns:r="http://schemas.openxmlformats.org/officeDocument/2006/relationships" r:id="R49687d67ec6842c8"/>
  </p:notesMasterIdLst>
  <p:sldIdLst>
    <p:sldId xmlns:r="http://schemas.openxmlformats.org/officeDocument/2006/relationships" id="256" r:id="Rb42635c39d3a4c04"/>
    <p:sldId xmlns:r="http://schemas.openxmlformats.org/officeDocument/2006/relationships" id="257" r:id="R75da2d1ef99d4be3"/>
    <p:sldId xmlns:r="http://schemas.openxmlformats.org/officeDocument/2006/relationships" id="258" r:id="R8a18cbcfb03b47d7"/>
    <p:sldId xmlns:r="http://schemas.openxmlformats.org/officeDocument/2006/relationships" id="259" r:id="Ra86d20a1f4204e11"/>
    <p:sldId xmlns:r="http://schemas.openxmlformats.org/officeDocument/2006/relationships" id="260" r:id="R409be5b10bc24fee"/>
    <p:sldId xmlns:r="http://schemas.openxmlformats.org/officeDocument/2006/relationships" id="261" r:id="R016805278e8b43ef"/>
    <p:sldId xmlns:r="http://schemas.openxmlformats.org/officeDocument/2006/relationships" id="262" r:id="R2f1d764e529f4c3f"/>
    <p:sldId xmlns:r="http://schemas.openxmlformats.org/officeDocument/2006/relationships" id="263" r:id="R5f2d857d109c4297"/>
    <p:sldId xmlns:r="http://schemas.openxmlformats.org/officeDocument/2006/relationships" id="264" r:id="Rdeb3c3831b4246da"/>
    <p:sldId xmlns:r="http://schemas.openxmlformats.org/officeDocument/2006/relationships" id="265" r:id="R71ac278d0cc646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249fea3acf42a7" /><Relationship Type="http://schemas.openxmlformats.org/officeDocument/2006/relationships/slideMaster" Target="/ppt/slideMasters/slideMaster1.xml" Id="R0d828d2b58a2474c" /><Relationship Type="http://schemas.openxmlformats.org/officeDocument/2006/relationships/notesMaster" Target="/ppt/notesMasters/notesMaster1.xml" Id="R49687d67ec6842c8" /><Relationship Type="http://schemas.openxmlformats.org/officeDocument/2006/relationships/presProps" Target="/ppt/presProps.xml" Id="Rdc1edcb7365e4495" /><Relationship Type="http://schemas.openxmlformats.org/officeDocument/2006/relationships/tableStyles" Target="/ppt/tableStyles.xml" Id="R971b5f19fe404855" /><Relationship Type="http://schemas.openxmlformats.org/officeDocument/2006/relationships/slide" Target="/ppt/slides/slide1.xml" Id="Rb42635c39d3a4c04" /><Relationship Type="http://schemas.openxmlformats.org/officeDocument/2006/relationships/slide" Target="/ppt/slides/slide2.xml" Id="R75da2d1ef99d4be3" /><Relationship Type="http://schemas.openxmlformats.org/officeDocument/2006/relationships/slide" Target="/ppt/slides/slide3.xml" Id="R8a18cbcfb03b47d7" /><Relationship Type="http://schemas.openxmlformats.org/officeDocument/2006/relationships/slide" Target="/ppt/slides/slide4.xml" Id="Ra86d20a1f4204e11" /><Relationship Type="http://schemas.openxmlformats.org/officeDocument/2006/relationships/slide" Target="/ppt/slides/slide5.xml" Id="R409be5b10bc24fee" /><Relationship Type="http://schemas.openxmlformats.org/officeDocument/2006/relationships/slide" Target="/ppt/slides/slide6.xml" Id="R016805278e8b43ef" /><Relationship Type="http://schemas.openxmlformats.org/officeDocument/2006/relationships/slide" Target="/ppt/slides/slide7.xml" Id="R2f1d764e529f4c3f" /><Relationship Type="http://schemas.openxmlformats.org/officeDocument/2006/relationships/slide" Target="/ppt/slides/slide8.xml" Id="R5f2d857d109c4297" /><Relationship Type="http://schemas.openxmlformats.org/officeDocument/2006/relationships/slide" Target="/ppt/slides/slide9.xml" Id="Rdeb3c3831b4246da" /><Relationship Type="http://schemas.openxmlformats.org/officeDocument/2006/relationships/slide" Target="/ppt/slides/slide10.xml" Id="R71ac278d0cc646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f591b6d46748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1d053607ee4c75" /><Relationship Type="http://schemas.openxmlformats.org/officeDocument/2006/relationships/notesMaster" Target="/ppt/notesMasters/notesMaster1.xml" Id="R87269fed749c4e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36b28483a94ede" /><Relationship Type="http://schemas.openxmlformats.org/officeDocument/2006/relationships/notesMaster" Target="/ppt/notesMasters/notesMaster1.xml" Id="R256a62f9639844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97f97187a541b9" /><Relationship Type="http://schemas.openxmlformats.org/officeDocument/2006/relationships/notesMaster" Target="/ppt/notesMasters/notesMaster1.xml" Id="R1311c25bb73645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e1edbd1a32459b" /><Relationship Type="http://schemas.openxmlformats.org/officeDocument/2006/relationships/notesMaster" Target="/ppt/notesMasters/notesMaster1.xml" Id="R7ec994f952b448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40d59958b24cf3" /><Relationship Type="http://schemas.openxmlformats.org/officeDocument/2006/relationships/notesMaster" Target="/ppt/notesMasters/notesMaster1.xml" Id="R04107411507c4f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e0e9c886004998" /><Relationship Type="http://schemas.openxmlformats.org/officeDocument/2006/relationships/notesMaster" Target="/ppt/notesMasters/notesMaster1.xml" Id="R6e6da03bc6d94f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de19f709b946cf" /><Relationship Type="http://schemas.openxmlformats.org/officeDocument/2006/relationships/notesMaster" Target="/ppt/notesMasters/notesMaster1.xml" Id="Rd30b5ad133f442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b54074917347ee" /><Relationship Type="http://schemas.openxmlformats.org/officeDocument/2006/relationships/notesMaster" Target="/ppt/notesMasters/notesMaster1.xml" Id="R263fa58d8d4e44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67d0847c9941db" /><Relationship Type="http://schemas.openxmlformats.org/officeDocument/2006/relationships/notesMaster" Target="/ppt/notesMasters/notesMaster1.xml" Id="R88f7df1d2d244f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9f0207a21f480b" /><Relationship Type="http://schemas.openxmlformats.org/officeDocument/2006/relationships/notesMaster" Target="/ppt/notesMasters/notesMaster1.xml" Id="R1da4fb29ace34c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00:00–01:00. Presentar el propósito: reunir la operación de granjas y convertir sus registros en información útil. La reunión dura 30 minutos: contexto 5, arquitectura 5, avances 8, demo 8 y preguntas 4.</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01:00–03:00. Explicar la necesidad con ejemplos cotidianos. El problema no es solamente registrar: es relacionar inventario, seguimiento y resultados del mismo lote. No atribuir ahorros cuantificados que no se han medido.</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03:00–05:00. Objetivo: convertir los datos de operación en seguimiento y decisiones. La información queda disponible conforme se registra, envía y procesa. Las capturas sin conexión necesitan sincronización antes de que otros usuarios puedan consultarlas.</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05:00–07:00. Recorrer el diagrama de izquierda a derecha. Ejemplo: registrar ingreso de alimento, registrar consumo en seguimiento, validar según proceso y revisar existencia e informe. La validación puede ser una etapa separada de la captura.</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07:00–10:00. Explicar interfaz, servicios y datos sin entrar en código. La web también presenta los reportes. Backend organizado en API, Application, Domain e Infrastructure. EF Core 10 y Npgsql acceden a PostgreSQL. GitHub Actions valida y publica imágenes por ECR en ECS. Fuente técnica: frontend/package.json, frontend/nginx.conf, backend/src/*.csproj y .github/workflows/deploy-production.yml. S3/CloudFront quedó archivado como origen frontend.</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10:00–13:00. Describir capacidades implementadas. Las empresas habilitan funciones y parametrizaciones según su operación. No todas utilizan el mismo flujo. Aclarar que registros offline requieren envío/sincronización. El responsable identifica ERP como único pendiente funcional web.</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13:00–15:00. El porcentaje es una estimación del responsable, no una medida de tests ni cobertura. La app móvil aún no se ha desplegado. Los cambios operativos han ajustado su desarrollo. No dar fecha de publicación: depende de consolidar el funcionamiento y cerrar postura en San Marino.</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15:00–18:00. ERP es el pendiente funcional indicado por el responsable. El fin es conectar la operación con el sistema empresarial y reducir doble registro. La dirección, frecuencia y alcance del intercambio están por acordar: la flecha expresa conexión conceptual, no una interfaz ni dirección técnica definida. Códigos ERP o integraciones particulares no equivalen a integración finalizada. Los ajustes por empresa forman parte de evolución continua.</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18:00–26:00. 0–1 login; 1–2 contexto; 2–3:30 ingreso alimento; 3:30–5 seguimiento y validación; 5–6 huevos previamente preparados; 6–7:30 informe; 7:30–8 cierre. Usar un lote de postura y mantener empresa/contexto. Mostrar persistencia al recargar. Ensayar antes con usuario y datos autorizados, fechas y stock compatibles. Si no está preparado el flujo, usar una consulta histórica ensayada. No mostrar confirmaciones simuladas.</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26:00–30:00. Recoger preguntas y acordar responsables. Mantener separada la discusión de ERP, el cierre operativo de postura/móvil y la mejora continua por empresa. No introducir el backlog técnico interno como alcance funcional pendiente.</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af63afd6f141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3993a7a13a4377" /><Relationship Type="http://schemas.openxmlformats.org/officeDocument/2006/relationships/slideLayout" Target="/ppt/slideLayouts/slideLayout1.xml" Id="Rad14847e581644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14847e581644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fa7fd6570246d4" /><Relationship Type="http://schemas.openxmlformats.org/officeDocument/2006/relationships/image" Target="/ppt/media/image.png" Id="R18fef7cb94504ded" /><Relationship Type="http://schemas.openxmlformats.org/officeDocument/2006/relationships/notesSlide" Target="/ppt/notesSlides/notesSlide1.xml" Id="Re33c0b96dbee4f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db28b9076c48b6" /><Relationship Type="http://schemas.openxmlformats.org/officeDocument/2006/relationships/notesSlide" Target="/ppt/notesSlides/notesSlide2.xml" Id="Rde6cdbd8ee6f4c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2cdeb989404bc3" /><Relationship Type="http://schemas.openxmlformats.org/officeDocument/2006/relationships/notesSlide" Target="/ppt/notesSlides/notesSlide3.xml" Id="R9e5138225f1148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4bea7d42814a9e" /><Relationship Type="http://schemas.openxmlformats.org/officeDocument/2006/relationships/notesSlide" Target="/ppt/notesSlides/notesSlide4.xml" Id="R6d597d859e4942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3b9a026b4b48fb" /><Relationship Type="http://schemas.openxmlformats.org/officeDocument/2006/relationships/notesSlide" Target="/ppt/notesSlides/notesSlide5.xml" Id="R7e63e41425b749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bead4b57924007" /><Relationship Type="http://schemas.openxmlformats.org/officeDocument/2006/relationships/notesSlide" Target="/ppt/notesSlides/notesSlide6.xml" Id="R8a699c0ad87748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3ea391e3de4a39" /><Relationship Type="http://schemas.openxmlformats.org/officeDocument/2006/relationships/notesSlide" Target="/ppt/notesSlides/notesSlide7.xml" Id="Rfb07227b331f45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7e4645af7a41d1" /><Relationship Type="http://schemas.openxmlformats.org/officeDocument/2006/relationships/notesSlide" Target="/ppt/notesSlides/notesSlide8.xml" Id="R0ab33f387ac74f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49046233d0494e" /><Relationship Type="http://schemas.openxmlformats.org/officeDocument/2006/relationships/notesSlide" Target="/ppt/notesSlides/notesSlide9.xml" Id="Rd118b02733bc4a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079082f1ea4b26" /><Relationship Type="http://schemas.openxmlformats.org/officeDocument/2006/relationships/notesSlide" Target="/ppt/notesSlides/notesSlide10.xml" Id="R7deda4a3abca43ea"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C3F223-1657-479A-85E6-780C5D913A07}"/>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8fef7cb94504ded"/>
          <a:stretch xmlns:a="http://schemas.openxmlformats.org/drawingml/2006/main"/>
        </p:blipFill>
        <p:spPr>
          <a:xfrm xmlns:a="http://schemas.openxmlformats.org/drawingml/2006/main">
            <a:off x="704850" y="630718"/>
            <a:ext cx="3238500" cy="51974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C37BAC8-39E1-4CBE-89EA-D1F923038880}"/>
              </a:ext>
            </a:extLst>
          </p:cNvPr>
          <p:cNvSpPr>
            <a:spLocks xmlns:a="http://schemas.openxmlformats.org/drawingml/2006/main" noGrp="1"/>
          </p:cNvSpPr>
          <p:nvPr/>
        </p:nvSpPr>
        <p:spPr>
          <a:xfrm xmlns:a="http://schemas.openxmlformats.org/drawingml/2006/main">
            <a:off x="647700" y="1943100"/>
            <a:ext cx="1038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D2181E"/>
                </a:solidFill>
                <a:latin typeface="Arial"/>
                <a:ea typeface="Arial"/>
                <a:cs typeface="Arial"/>
              </a:defRPr>
            </a:pPr>
            <a:r>
              <a:rPr sz="6300" b="1">
                <a:solidFill>
                  <a:srgbClr val="D2181E"/>
                </a:solidFill>
                <a:latin typeface="Arial"/>
                <a:ea typeface="Arial"/>
                <a:cs typeface="Arial"/>
              </a:rPr>
              <a:t>ItalGranja</a:t>
            </a:r>
          </a:p>
        </p:txBody>
      </p:sp>
      <p:sp>
        <p:nvSpPr>
          <p:cNvPr id="4" name="">
            <a:extLst xmlns:a="http://schemas.openxmlformats.org/drawingml/2006/main">
              <a:ext uri="{FF2B5EF4-FFF2-40B4-BE49-F238E27FC236}">
                <a16:creationId xmlns:a16="http://schemas.microsoft.com/office/drawing/2014/main" id="{D6DB1531-39E0-42F0-A8BE-D6D570D3C9BD}"/>
              </a:ext>
            </a:extLst>
          </p:cNvPr>
          <p:cNvSpPr>
            <a:spLocks xmlns:a="http://schemas.openxmlformats.org/drawingml/2006/main" noGrp="1"/>
          </p:cNvSpPr>
          <p:nvPr/>
        </p:nvSpPr>
        <p:spPr>
          <a:xfrm xmlns:a="http://schemas.openxmlformats.org/drawingml/2006/main">
            <a:off x="704850" y="312420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A2D"/>
                </a:solidFill>
                <a:latin typeface="Arial"/>
                <a:ea typeface="Arial"/>
                <a:cs typeface="Arial"/>
              </a:defRPr>
            </a:pPr>
            <a:r>
              <a:rPr sz="3300" b="1">
                <a:solidFill>
                  <a:srgbClr val="262A2D"/>
                </a:solidFill>
                <a:latin typeface="Arial"/>
                <a:ea typeface="Arial"/>
                <a:cs typeface="Arial"/>
              </a:rPr>
              <a:t>Gestión de la operación avícola</a:t>
            </a:r>
          </a:p>
        </p:txBody>
      </p:sp>
      <p:sp>
        <p:nvSpPr>
          <p:cNvPr id="5" name="">
            <a:extLst xmlns:a="http://schemas.openxmlformats.org/drawingml/2006/main">
              <a:ext uri="{FF2B5EF4-FFF2-40B4-BE49-F238E27FC236}">
                <a16:creationId xmlns:a16="http://schemas.microsoft.com/office/drawing/2014/main" id="{FE2E8A37-3BE0-45C1-A4E6-1D9FA01432C0}"/>
              </a:ext>
            </a:extLst>
          </p:cNvPr>
          <p:cNvSpPr>
            <a:spLocks xmlns:a="http://schemas.openxmlformats.org/drawingml/2006/main" noGrp="1"/>
          </p:cNvSpPr>
          <p:nvPr/>
        </p:nvSpPr>
        <p:spPr>
          <a:xfrm xmlns:a="http://schemas.openxmlformats.org/drawingml/2006/main">
            <a:off x="723900" y="4286250"/>
            <a:ext cx="857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96D"/>
                </a:solidFill>
                <a:latin typeface="Arial"/>
                <a:ea typeface="Arial"/>
                <a:cs typeface="Arial"/>
              </a:defRPr>
            </a:pPr>
            <a:r>
              <a:rPr sz="2400" b="0">
                <a:solidFill>
                  <a:srgbClr val="62696D"/>
                </a:solidFill>
                <a:latin typeface="Arial"/>
                <a:ea typeface="Arial"/>
                <a:cs typeface="Arial"/>
              </a:rPr>
              <a:t>Seguimiento de granjas y lotes</a:t>
            </a:r>
          </a:p>
          <a:p xmlns:a="http://schemas.openxmlformats.org/drawingml/2006/main">
            <a:pPr>
              <a:defRPr sz="2400" b="0">
                <a:solidFill>
                  <a:srgbClr val="62696D"/>
                </a:solidFill>
                <a:latin typeface="Arial"/>
                <a:ea typeface="Arial"/>
                <a:cs typeface="Arial"/>
              </a:defRPr>
            </a:pPr>
            <a:r>
              <a:rPr sz="2400" b="0">
                <a:solidFill>
                  <a:srgbClr val="62696D"/>
                </a:solidFill>
                <a:latin typeface="Arial"/>
                <a:ea typeface="Arial"/>
                <a:cs typeface="Arial"/>
              </a:rPr>
              <a:t>Información para decidir</a:t>
            </a:r>
          </a:p>
        </p:txBody>
      </p:sp>
      <p:sp>
        <p:nvSpPr>
          <p:cNvPr id="6" name="">
            <a:extLst xmlns:a="http://schemas.openxmlformats.org/drawingml/2006/main">
              <a:ext uri="{FF2B5EF4-FFF2-40B4-BE49-F238E27FC236}">
                <a16:creationId xmlns:a16="http://schemas.microsoft.com/office/drawing/2014/main" id="{6ADABDE3-C717-4590-8A10-87865C65BDD5}"/>
              </a:ext>
            </a:extLst>
          </p:cNvPr>
          <p:cNvSpPr>
            <a:spLocks xmlns:a="http://schemas.openxmlformats.org/drawingml/2006/main" noGrp="1"/>
          </p:cNvSpPr>
          <p:nvPr/>
        </p:nvSpPr>
        <p:spPr>
          <a:xfrm xmlns:a="http://schemas.openxmlformats.org/drawingml/2006/main">
            <a:off x="723900" y="601980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2696D"/>
                </a:solidFill>
                <a:latin typeface="Arial"/>
                <a:ea typeface="Arial"/>
                <a:cs typeface="Arial"/>
              </a:defRPr>
            </a:pPr>
            <a:r>
              <a:rPr sz="1500" b="0">
                <a:solidFill>
                  <a:srgbClr val="62696D"/>
                </a:solidFill>
                <a:latin typeface="Arial"/>
                <a:ea typeface="Arial"/>
                <a:cs typeface="Arial"/>
              </a:rPr>
              <a:t>Estado del proyecto / Septiembre de 2026</a:t>
            </a:r>
          </a:p>
        </p:txBody>
      </p:sp>
    </p:spTree>
    <p:extLst>
      <p:ext uri="{BB962C8B-B14F-4D97-AF65-F5344CB8AC3E}">
        <p14:creationId xmlns:p14="http://schemas.microsoft.com/office/powerpoint/2010/main" val="60499731"/>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2573D2-BE25-44E7-903A-E20420DB9787}"/>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La información que necesita la granja</a:t>
            </a:r>
          </a:p>
        </p:txBody>
      </p:sp>
      <p:sp>
        <p:nvSpPr>
          <p:cNvPr id="2" name="">
            <a:extLst xmlns:a="http://schemas.openxmlformats.org/drawingml/2006/main">
              <a:ext uri="{FF2B5EF4-FFF2-40B4-BE49-F238E27FC236}">
                <a16:creationId xmlns:a16="http://schemas.microsoft.com/office/drawing/2014/main" id="{7D356824-FC68-4FA1-8001-7B60BA380549}"/>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47FFF85-0E24-4C87-89B0-D1DE0FDEAD46}"/>
              </a:ext>
            </a:extLst>
          </p:cNvPr>
          <p:cNvSpPr>
            <a:spLocks xmlns:a="http://schemas.openxmlformats.org/drawingml/2006/main" noGrp="1"/>
          </p:cNvSpPr>
          <p:nvPr/>
        </p:nvSpPr>
        <p:spPr>
          <a:xfrm xmlns:a="http://schemas.openxmlformats.org/drawingml/2006/main">
            <a:off x="704850" y="1866900"/>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2181E"/>
                </a:solidFill>
                <a:latin typeface="Arial"/>
                <a:ea typeface="Arial"/>
                <a:cs typeface="Arial"/>
              </a:defRPr>
            </a:pPr>
            <a:r>
              <a:rPr sz="3975" b="1">
                <a:solidFill>
                  <a:srgbClr val="D2181E"/>
                </a:solidFill>
                <a:latin typeface="Arial"/>
                <a:ea typeface="Arial"/>
                <a:cs typeface="Arial"/>
              </a:rPr>
              <a:t>Cada día deja datos</a:t>
            </a:r>
          </a:p>
          <a:p xmlns:a="http://schemas.openxmlformats.org/drawingml/2006/main">
            <a:pPr>
              <a:defRPr sz="3975" b="1">
                <a:solidFill>
                  <a:srgbClr val="D2181E"/>
                </a:solidFill>
                <a:latin typeface="Arial"/>
                <a:ea typeface="Arial"/>
                <a:cs typeface="Arial"/>
              </a:defRPr>
            </a:pPr>
            <a:r>
              <a:rPr sz="3975" b="1">
                <a:solidFill>
                  <a:srgbClr val="D2181E"/>
                </a:solidFill>
                <a:latin typeface="Arial"/>
                <a:ea typeface="Arial"/>
                <a:cs typeface="Arial"/>
              </a:rPr>
              <a:t>que deben conectarse</a:t>
            </a:r>
          </a:p>
        </p:txBody>
      </p:sp>
      <p:sp>
        <p:nvSpPr>
          <p:cNvPr id="4" name="">
            <a:extLst xmlns:a="http://schemas.openxmlformats.org/drawingml/2006/main">
              <a:ext uri="{FF2B5EF4-FFF2-40B4-BE49-F238E27FC236}">
                <a16:creationId xmlns:a16="http://schemas.microsoft.com/office/drawing/2014/main" id="{9F844548-DADF-46CB-9E66-309A46640136}"/>
              </a:ext>
            </a:extLst>
          </p:cNvPr>
          <p:cNvSpPr>
            <a:spLocks xmlns:a="http://schemas.openxmlformats.org/drawingml/2006/main" noGrp="1"/>
          </p:cNvSpPr>
          <p:nvPr/>
        </p:nvSpPr>
        <p:spPr>
          <a:xfrm xmlns:a="http://schemas.openxmlformats.org/drawingml/2006/main">
            <a:off x="6762750" y="18859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Alimento y existencias</a:t>
            </a:r>
          </a:p>
        </p:txBody>
      </p:sp>
      <p:sp>
        <p:nvSpPr>
          <p:cNvPr id="5" name="">
            <a:extLst xmlns:a="http://schemas.openxmlformats.org/drawingml/2006/main">
              <a:ext uri="{FF2B5EF4-FFF2-40B4-BE49-F238E27FC236}">
                <a16:creationId xmlns:a16="http://schemas.microsoft.com/office/drawing/2014/main" id="{A68423E1-8DEB-4246-9925-994D4D8F9D04}"/>
              </a:ext>
            </a:extLst>
          </p:cNvPr>
          <p:cNvSpPr>
            <a:spLocks xmlns:a="http://schemas.openxmlformats.org/drawingml/2006/main" noGrp="1"/>
          </p:cNvSpPr>
          <p:nvPr/>
        </p:nvSpPr>
        <p:spPr>
          <a:xfrm xmlns:a="http://schemas.openxmlformats.org/drawingml/2006/main">
            <a:off x="6762750" y="22955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Qué ingresó, cuánto se consumió y dónde.</a:t>
            </a:r>
          </a:p>
        </p:txBody>
      </p:sp>
      <p:sp>
        <p:nvSpPr>
          <p:cNvPr id="6" name="">
            <a:extLst xmlns:a="http://schemas.openxmlformats.org/drawingml/2006/main">
              <a:ext uri="{FF2B5EF4-FFF2-40B4-BE49-F238E27FC236}">
                <a16:creationId xmlns:a16="http://schemas.microsoft.com/office/drawing/2014/main" id="{4BFD76E3-81CB-4594-9C21-D8195D2DB17C}"/>
              </a:ext>
            </a:extLst>
          </p:cNvPr>
          <p:cNvSpPr>
            <a:spLocks xmlns:a="http://schemas.openxmlformats.org/drawingml/2006/main" noGrp="1"/>
          </p:cNvSpPr>
          <p:nvPr/>
        </p:nvSpPr>
        <p:spPr>
          <a:xfrm xmlns:a="http://schemas.openxmlformats.org/drawingml/2006/main">
            <a:off x="6762750" y="30384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Aves y novedades</a:t>
            </a:r>
          </a:p>
        </p:txBody>
      </p:sp>
      <p:sp>
        <p:nvSpPr>
          <p:cNvPr id="7" name="">
            <a:extLst xmlns:a="http://schemas.openxmlformats.org/drawingml/2006/main">
              <a:ext uri="{FF2B5EF4-FFF2-40B4-BE49-F238E27FC236}">
                <a16:creationId xmlns:a16="http://schemas.microsoft.com/office/drawing/2014/main" id="{F6FCF63C-F232-4645-8530-A5F8DC31AA40}"/>
              </a:ext>
            </a:extLst>
          </p:cNvPr>
          <p:cNvSpPr>
            <a:spLocks xmlns:a="http://schemas.openxmlformats.org/drawingml/2006/main" noGrp="1"/>
          </p:cNvSpPr>
          <p:nvPr/>
        </p:nvSpPr>
        <p:spPr>
          <a:xfrm xmlns:a="http://schemas.openxmlformats.org/drawingml/2006/main">
            <a:off x="6762750" y="34480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Cómo evoluciona el lote y qué ocurrió.</a:t>
            </a:r>
          </a:p>
        </p:txBody>
      </p:sp>
      <p:sp>
        <p:nvSpPr>
          <p:cNvPr id="8" name="">
            <a:extLst xmlns:a="http://schemas.openxmlformats.org/drawingml/2006/main">
              <a:ext uri="{FF2B5EF4-FFF2-40B4-BE49-F238E27FC236}">
                <a16:creationId xmlns:a16="http://schemas.microsoft.com/office/drawing/2014/main" id="{92B61E30-173D-466F-AEA4-5BFFDC689CDF}"/>
              </a:ext>
            </a:extLst>
          </p:cNvPr>
          <p:cNvSpPr>
            <a:spLocks xmlns:a="http://schemas.openxmlformats.org/drawingml/2006/main" noGrp="1"/>
          </p:cNvSpPr>
          <p:nvPr/>
        </p:nvSpPr>
        <p:spPr>
          <a:xfrm xmlns:a="http://schemas.openxmlformats.org/drawingml/2006/main">
            <a:off x="6762750" y="41910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Producción de huevos</a:t>
            </a:r>
          </a:p>
        </p:txBody>
      </p:sp>
      <p:sp>
        <p:nvSpPr>
          <p:cNvPr id="9" name="">
            <a:extLst xmlns:a="http://schemas.openxmlformats.org/drawingml/2006/main">
              <a:ext uri="{FF2B5EF4-FFF2-40B4-BE49-F238E27FC236}">
                <a16:creationId xmlns:a16="http://schemas.microsoft.com/office/drawing/2014/main" id="{D5F44021-A148-46F7-BAA4-3C4BECBED74C}"/>
              </a:ext>
            </a:extLst>
          </p:cNvPr>
          <p:cNvSpPr>
            <a:spLocks xmlns:a="http://schemas.openxmlformats.org/drawingml/2006/main" noGrp="1"/>
          </p:cNvSpPr>
          <p:nvPr/>
        </p:nvSpPr>
        <p:spPr>
          <a:xfrm xmlns:a="http://schemas.openxmlformats.org/drawingml/2006/main">
            <a:off x="6762750" y="46005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Cuánto se produjo y cómo se clasificó.</a:t>
            </a:r>
          </a:p>
        </p:txBody>
      </p:sp>
      <p:sp>
        <p:nvSpPr>
          <p:cNvPr id="10" name="">
            <a:extLst xmlns:a="http://schemas.openxmlformats.org/drawingml/2006/main">
              <a:ext uri="{FF2B5EF4-FFF2-40B4-BE49-F238E27FC236}">
                <a16:creationId xmlns:a16="http://schemas.microsoft.com/office/drawing/2014/main" id="{E4DD335E-CECA-4BF3-9CA3-B7B3599A9DC1}"/>
              </a:ext>
            </a:extLst>
          </p:cNvPr>
          <p:cNvSpPr>
            <a:spLocks xmlns:a="http://schemas.openxmlformats.org/drawingml/2006/main" noGrp="1"/>
          </p:cNvSpPr>
          <p:nvPr/>
        </p:nvSpPr>
        <p:spPr>
          <a:xfrm xmlns:a="http://schemas.openxmlformats.org/drawingml/2006/main">
            <a:off x="723900" y="5429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2696D"/>
                </a:solidFill>
                <a:latin typeface="Arial"/>
                <a:ea typeface="Arial"/>
                <a:cs typeface="Arial"/>
              </a:defRPr>
            </a:pPr>
            <a:r>
              <a:rPr sz="2100" b="0">
                <a:solidFill>
                  <a:srgbClr val="62696D"/>
                </a:solidFill>
                <a:latin typeface="Arial"/>
                <a:ea typeface="Arial"/>
                <a:cs typeface="Arial"/>
              </a:rPr>
              <a:t>La captura dispersa y la consolidación tardía dificultan el seguimiento.</a:t>
            </a:r>
          </a:p>
        </p:txBody>
      </p:sp>
    </p:spTree>
    <p:extLst>
      <p:ext uri="{BB962C8B-B14F-4D97-AF65-F5344CB8AC3E}">
        <p14:creationId xmlns:p14="http://schemas.microsoft.com/office/powerpoint/2010/main" val="1869815975"/>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6CE930-B3D1-484C-A1E5-2E9E36E2371D}"/>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Objetivo de ItalGranja</a:t>
            </a:r>
          </a:p>
        </p:txBody>
      </p:sp>
      <p:sp>
        <p:nvSpPr>
          <p:cNvPr id="2" name="">
            <a:extLst xmlns:a="http://schemas.openxmlformats.org/drawingml/2006/main">
              <a:ext uri="{FF2B5EF4-FFF2-40B4-BE49-F238E27FC236}">
                <a16:creationId xmlns:a16="http://schemas.microsoft.com/office/drawing/2014/main" id="{BAE3FAD4-0D16-4D45-A3CE-B99A6FC58ED4}"/>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9F4AAB7-4638-4873-8105-AE4DDBA35120}"/>
              </a:ext>
            </a:extLst>
          </p:cNvPr>
          <p:cNvSpPr>
            <a:spLocks xmlns:a="http://schemas.openxmlformats.org/drawingml/2006/main" noGrp="1"/>
          </p:cNvSpPr>
          <p:nvPr/>
        </p:nvSpPr>
        <p:spPr>
          <a:xfrm xmlns:a="http://schemas.openxmlformats.org/drawingml/2006/main">
            <a:off x="685800" y="1733550"/>
            <a:ext cx="10572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D2181E"/>
                </a:solidFill>
                <a:latin typeface="Arial"/>
                <a:ea typeface="Arial"/>
                <a:cs typeface="Arial"/>
              </a:defRPr>
            </a:pPr>
            <a:r>
              <a:rPr sz="3825" b="1">
                <a:solidFill>
                  <a:srgbClr val="D2181E"/>
                </a:solidFill>
                <a:latin typeface="Arial"/>
                <a:ea typeface="Arial"/>
                <a:cs typeface="Arial"/>
              </a:rPr>
              <a:t>Centralizar la operación</a:t>
            </a:r>
          </a:p>
          <a:p xmlns:a="http://schemas.openxmlformats.org/drawingml/2006/main">
            <a:pPr>
              <a:defRPr sz="3825" b="1">
                <a:solidFill>
                  <a:srgbClr val="D2181E"/>
                </a:solidFill>
                <a:latin typeface="Arial"/>
                <a:ea typeface="Arial"/>
                <a:cs typeface="Arial"/>
              </a:defRPr>
            </a:pPr>
            <a:r>
              <a:rPr sz="3825" b="1">
                <a:solidFill>
                  <a:srgbClr val="D2181E"/>
                </a:solidFill>
                <a:latin typeface="Arial"/>
                <a:ea typeface="Arial"/>
                <a:cs typeface="Arial"/>
              </a:rPr>
              <a:t>y mantener su trazabilidad</a:t>
            </a:r>
          </a:p>
        </p:txBody>
      </p:sp>
      <p:sp>
        <p:nvSpPr>
          <p:cNvPr id="4" name="">
            <a:extLst xmlns:a="http://schemas.openxmlformats.org/drawingml/2006/main">
              <a:ext uri="{FF2B5EF4-FFF2-40B4-BE49-F238E27FC236}">
                <a16:creationId xmlns:a16="http://schemas.microsoft.com/office/drawing/2014/main" id="{78E29044-4A9F-4D94-90A8-CBC35EB7B59B}"/>
              </a:ext>
            </a:extLst>
          </p:cNvPr>
          <p:cNvSpPr>
            <a:spLocks xmlns:a="http://schemas.openxmlformats.org/drawingml/2006/main" noGrp="1"/>
          </p:cNvSpPr>
          <p:nvPr/>
        </p:nvSpPr>
        <p:spPr>
          <a:xfrm xmlns:a="http://schemas.openxmlformats.org/drawingml/2006/main">
            <a:off x="723900" y="3457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En campo</a:t>
            </a:r>
          </a:p>
        </p:txBody>
      </p:sp>
      <p:sp>
        <p:nvSpPr>
          <p:cNvPr id="5" name="">
            <a:extLst xmlns:a="http://schemas.openxmlformats.org/drawingml/2006/main">
              <a:ext uri="{FF2B5EF4-FFF2-40B4-BE49-F238E27FC236}">
                <a16:creationId xmlns:a16="http://schemas.microsoft.com/office/drawing/2014/main" id="{F1A0CA94-5EFA-4D41-A540-BC7B686E4570}"/>
              </a:ext>
            </a:extLst>
          </p:cNvPr>
          <p:cNvSpPr>
            <a:spLocks xmlns:a="http://schemas.openxmlformats.org/drawingml/2006/main" noGrp="1"/>
          </p:cNvSpPr>
          <p:nvPr/>
        </p:nvSpPr>
        <p:spPr>
          <a:xfrm xmlns:a="http://schemas.openxmlformats.org/drawingml/2006/main">
            <a:off x="723900" y="38671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Capturar el alimento, las novedades y la producción.</a:t>
            </a:r>
          </a:p>
        </p:txBody>
      </p:sp>
      <p:sp>
        <p:nvSpPr>
          <p:cNvPr id="6" name="">
            <a:extLst xmlns:a="http://schemas.openxmlformats.org/drawingml/2006/main">
              <a:ext uri="{FF2B5EF4-FFF2-40B4-BE49-F238E27FC236}">
                <a16:creationId xmlns:a16="http://schemas.microsoft.com/office/drawing/2014/main" id="{ED81B1D6-5A69-46FF-B66D-AF9D30B40755}"/>
              </a:ext>
            </a:extLst>
          </p:cNvPr>
          <p:cNvSpPr>
            <a:spLocks xmlns:a="http://schemas.openxmlformats.org/drawingml/2006/main" noGrp="1"/>
          </p:cNvSpPr>
          <p:nvPr/>
        </p:nvSpPr>
        <p:spPr>
          <a:xfrm xmlns:a="http://schemas.openxmlformats.org/drawingml/2006/main">
            <a:off x="723900" y="42481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En supervisión</a:t>
            </a:r>
          </a:p>
        </p:txBody>
      </p:sp>
      <p:sp>
        <p:nvSpPr>
          <p:cNvPr id="7" name="">
            <a:extLst xmlns:a="http://schemas.openxmlformats.org/drawingml/2006/main">
              <a:ext uri="{FF2B5EF4-FFF2-40B4-BE49-F238E27FC236}">
                <a16:creationId xmlns:a16="http://schemas.microsoft.com/office/drawing/2014/main" id="{504EF7AD-9077-47BC-A4B8-75443F1861F6}"/>
              </a:ext>
            </a:extLst>
          </p:cNvPr>
          <p:cNvSpPr>
            <a:spLocks xmlns:a="http://schemas.openxmlformats.org/drawingml/2006/main" noGrp="1"/>
          </p:cNvSpPr>
          <p:nvPr/>
        </p:nvSpPr>
        <p:spPr>
          <a:xfrm xmlns:a="http://schemas.openxmlformats.org/drawingml/2006/main">
            <a:off x="723900" y="46577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Consultar el lote y revisar sus indicadores.</a:t>
            </a:r>
          </a:p>
        </p:txBody>
      </p:sp>
      <p:sp>
        <p:nvSpPr>
          <p:cNvPr id="8" name="">
            <a:extLst xmlns:a="http://schemas.openxmlformats.org/drawingml/2006/main">
              <a:ext uri="{FF2B5EF4-FFF2-40B4-BE49-F238E27FC236}">
                <a16:creationId xmlns:a16="http://schemas.microsoft.com/office/drawing/2014/main" id="{62975CA8-3260-4F4C-B37B-2781DC500B35}"/>
              </a:ext>
            </a:extLst>
          </p:cNvPr>
          <p:cNvSpPr>
            <a:spLocks xmlns:a="http://schemas.openxmlformats.org/drawingml/2006/main" noGrp="1"/>
          </p:cNvSpPr>
          <p:nvPr/>
        </p:nvSpPr>
        <p:spPr>
          <a:xfrm xmlns:a="http://schemas.openxmlformats.org/drawingml/2006/main">
            <a:off x="723900" y="50387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En administración</a:t>
            </a:r>
          </a:p>
        </p:txBody>
      </p:sp>
      <p:sp>
        <p:nvSpPr>
          <p:cNvPr id="9" name="">
            <a:extLst xmlns:a="http://schemas.openxmlformats.org/drawingml/2006/main">
              <a:ext uri="{FF2B5EF4-FFF2-40B4-BE49-F238E27FC236}">
                <a16:creationId xmlns:a16="http://schemas.microsoft.com/office/drawing/2014/main" id="{3197DC0F-C9E3-407C-8DAE-120B38C3B2A9}"/>
              </a:ext>
            </a:extLst>
          </p:cNvPr>
          <p:cNvSpPr>
            <a:spLocks xmlns:a="http://schemas.openxmlformats.org/drawingml/2006/main" noGrp="1"/>
          </p:cNvSpPr>
          <p:nvPr/>
        </p:nvSpPr>
        <p:spPr>
          <a:xfrm xmlns:a="http://schemas.openxmlformats.org/drawingml/2006/main">
            <a:off x="723900" y="54483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Consolidar reportes técnicos y de costos.</a:t>
            </a:r>
          </a:p>
        </p:txBody>
      </p:sp>
    </p:spTree>
    <p:extLst>
      <p:ext uri="{BB962C8B-B14F-4D97-AF65-F5344CB8AC3E}">
        <p14:creationId xmlns:p14="http://schemas.microsoft.com/office/powerpoint/2010/main" val="1676067357"/>
      </p:ext>
    </p:extLst>
  </p:cSld>
</p:sld>
</file>

<file path=ppt/slides/slide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A4A0B4-06C1-4B22-9938-7721E8B2600A}"/>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El recorrido de un registro</a:t>
            </a:r>
          </a:p>
        </p:txBody>
      </p:sp>
      <p:sp>
        <p:nvSpPr>
          <p:cNvPr id="2" name="">
            <a:extLst xmlns:a="http://schemas.openxmlformats.org/drawingml/2006/main">
              <a:ext uri="{FF2B5EF4-FFF2-40B4-BE49-F238E27FC236}">
                <a16:creationId xmlns:a16="http://schemas.microsoft.com/office/drawing/2014/main" id="{65DF2433-E7C8-4547-842D-EB6BA68107BA}"/>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FC1F366-1EF8-4908-8114-32482CF696F9}"/>
              </a:ext>
            </a:extLst>
          </p:cNvPr>
          <p:cNvSpPr>
            <a:spLocks xmlns:a="http://schemas.openxmlformats.org/drawingml/2006/main" noGrp="1"/>
          </p:cNvSpPr>
          <p:nvPr/>
        </p:nvSpPr>
        <p:spPr>
          <a:xfrm xmlns:a="http://schemas.openxmlformats.org/drawingml/2006/main">
            <a:off x="70485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4" name="">
            <a:extLst xmlns:a="http://schemas.openxmlformats.org/drawingml/2006/main">
              <a:ext uri="{FF2B5EF4-FFF2-40B4-BE49-F238E27FC236}">
                <a16:creationId xmlns:a16="http://schemas.microsoft.com/office/drawing/2014/main" id="{4C128E3B-3F53-49FE-A5C8-743A823F695A}"/>
              </a:ext>
            </a:extLst>
          </p:cNvPr>
          <p:cNvSpPr>
            <a:spLocks xmlns:a="http://schemas.openxmlformats.org/drawingml/2006/main" noGrp="1"/>
          </p:cNvSpPr>
          <p:nvPr/>
        </p:nvSpPr>
        <p:spPr>
          <a:xfrm xmlns:a="http://schemas.openxmlformats.org/drawingml/2006/main">
            <a:off x="87630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Ubicar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Granja y lote</a:t>
            </a:r>
          </a:p>
        </p:txBody>
      </p:sp>
      <p:sp>
        <p:nvSpPr>
          <p:cNvPr id="5" name="">
            <a:extLst xmlns:a="http://schemas.openxmlformats.org/drawingml/2006/main">
              <a:ext uri="{FF2B5EF4-FFF2-40B4-BE49-F238E27FC236}">
                <a16:creationId xmlns:a16="http://schemas.microsoft.com/office/drawing/2014/main" id="{E0C8C129-C170-4744-947E-572518FAF1BE}"/>
              </a:ext>
            </a:extLst>
          </p:cNvPr>
          <p:cNvSpPr>
            <a:spLocks xmlns:a="http://schemas.openxmlformats.org/drawingml/2006/main" noGrp="1"/>
          </p:cNvSpPr>
          <p:nvPr/>
        </p:nvSpPr>
        <p:spPr>
          <a:xfrm xmlns:a="http://schemas.openxmlformats.org/drawingml/2006/main">
            <a:off x="3019425" y="2743200"/>
            <a:ext cx="4000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2F38565-6930-4797-B06B-E264FBB22C59}"/>
              </a:ext>
            </a:extLst>
          </p:cNvPr>
          <p:cNvSpPr>
            <a:spLocks xmlns:a="http://schemas.openxmlformats.org/drawingml/2006/main" noGrp="1"/>
          </p:cNvSpPr>
          <p:nvPr/>
        </p:nvSpPr>
        <p:spPr>
          <a:xfrm xmlns:a="http://schemas.openxmlformats.org/drawingml/2006/main">
            <a:off x="358140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089EAD9A-C7C2-48BA-BDD9-0239E3618F72}"/>
              </a:ext>
            </a:extLst>
          </p:cNvPr>
          <p:cNvSpPr>
            <a:spLocks xmlns:a="http://schemas.openxmlformats.org/drawingml/2006/main" noGrp="1"/>
          </p:cNvSpPr>
          <p:nvPr/>
        </p:nvSpPr>
        <p:spPr>
          <a:xfrm xmlns:a="http://schemas.openxmlformats.org/drawingml/2006/main">
            <a:off x="375285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Capturar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Operación diaria</a:t>
            </a:r>
          </a:p>
        </p:txBody>
      </p:sp>
      <p:sp>
        <p:nvSpPr>
          <p:cNvPr id="8" name="">
            <a:extLst xmlns:a="http://schemas.openxmlformats.org/drawingml/2006/main">
              <a:ext uri="{FF2B5EF4-FFF2-40B4-BE49-F238E27FC236}">
                <a16:creationId xmlns:a16="http://schemas.microsoft.com/office/drawing/2014/main" id="{AB2CF426-E2D5-425E-83AE-4A9CF20E4BDA}"/>
              </a:ext>
            </a:extLst>
          </p:cNvPr>
          <p:cNvSpPr>
            <a:spLocks xmlns:a="http://schemas.openxmlformats.org/drawingml/2006/main" noGrp="1"/>
          </p:cNvSpPr>
          <p:nvPr/>
        </p:nvSpPr>
        <p:spPr>
          <a:xfrm xmlns:a="http://schemas.openxmlformats.org/drawingml/2006/main">
            <a:off x="5895975" y="2743200"/>
            <a:ext cx="4000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57DC6A-A4B5-4CB9-B1DF-28EB78F043B4}"/>
              </a:ext>
            </a:extLst>
          </p:cNvPr>
          <p:cNvSpPr>
            <a:spLocks xmlns:a="http://schemas.openxmlformats.org/drawingml/2006/main" noGrp="1"/>
          </p:cNvSpPr>
          <p:nvPr/>
        </p:nvSpPr>
        <p:spPr>
          <a:xfrm xmlns:a="http://schemas.openxmlformats.org/drawingml/2006/main">
            <a:off x="645795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0" name="">
            <a:extLst xmlns:a="http://schemas.openxmlformats.org/drawingml/2006/main">
              <a:ext uri="{FF2B5EF4-FFF2-40B4-BE49-F238E27FC236}">
                <a16:creationId xmlns:a16="http://schemas.microsoft.com/office/drawing/2014/main" id="{6613D7DE-C958-458C-9BCB-4F1DBF5A3E8B}"/>
              </a:ext>
            </a:extLst>
          </p:cNvPr>
          <p:cNvSpPr>
            <a:spLocks xmlns:a="http://schemas.openxmlformats.org/drawingml/2006/main" noGrp="1"/>
          </p:cNvSpPr>
          <p:nvPr/>
        </p:nvSpPr>
        <p:spPr>
          <a:xfrm xmlns:a="http://schemas.openxmlformats.org/drawingml/2006/main">
            <a:off x="662940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Validar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Según el flujo</a:t>
            </a:r>
          </a:p>
        </p:txBody>
      </p:sp>
      <p:sp>
        <p:nvSpPr>
          <p:cNvPr id="11" name="">
            <a:extLst xmlns:a="http://schemas.openxmlformats.org/drawingml/2006/main">
              <a:ext uri="{FF2B5EF4-FFF2-40B4-BE49-F238E27FC236}">
                <a16:creationId xmlns:a16="http://schemas.microsoft.com/office/drawing/2014/main" id="{7E0EAF64-1E2A-475C-8071-3D34BA8F053E}"/>
              </a:ext>
            </a:extLst>
          </p:cNvPr>
          <p:cNvSpPr>
            <a:spLocks xmlns:a="http://schemas.openxmlformats.org/drawingml/2006/main" noGrp="1"/>
          </p:cNvSpPr>
          <p:nvPr/>
        </p:nvSpPr>
        <p:spPr>
          <a:xfrm xmlns:a="http://schemas.openxmlformats.org/drawingml/2006/main">
            <a:off x="8772525" y="2743200"/>
            <a:ext cx="4000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629CA3A-F818-4894-BE43-82EA186E29FD}"/>
              </a:ext>
            </a:extLst>
          </p:cNvPr>
          <p:cNvSpPr>
            <a:spLocks xmlns:a="http://schemas.openxmlformats.org/drawingml/2006/main" noGrp="1"/>
          </p:cNvSpPr>
          <p:nvPr/>
        </p:nvSpPr>
        <p:spPr>
          <a:xfrm xmlns:a="http://schemas.openxmlformats.org/drawingml/2006/main">
            <a:off x="933450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3" name="">
            <a:extLst xmlns:a="http://schemas.openxmlformats.org/drawingml/2006/main">
              <a:ext uri="{FF2B5EF4-FFF2-40B4-BE49-F238E27FC236}">
                <a16:creationId xmlns:a16="http://schemas.microsoft.com/office/drawing/2014/main" id="{D5262B16-65F9-4B59-928A-FACDF292AE56}"/>
              </a:ext>
            </a:extLst>
          </p:cNvPr>
          <p:cNvSpPr>
            <a:spLocks xmlns:a="http://schemas.openxmlformats.org/drawingml/2006/main" noGrp="1"/>
          </p:cNvSpPr>
          <p:nvPr/>
        </p:nvSpPr>
        <p:spPr>
          <a:xfrm xmlns:a="http://schemas.openxmlformats.org/drawingml/2006/main">
            <a:off x="950595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Consultar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Reportes</a:t>
            </a:r>
          </a:p>
        </p:txBody>
      </p:sp>
      <p:sp>
        <p:nvSpPr>
          <p:cNvPr id="14" name="">
            <a:extLst xmlns:a="http://schemas.openxmlformats.org/drawingml/2006/main">
              <a:ext uri="{FF2B5EF4-FFF2-40B4-BE49-F238E27FC236}">
                <a16:creationId xmlns:a16="http://schemas.microsoft.com/office/drawing/2014/main" id="{DC2EAAFD-A886-4360-AD87-0AA3264F9CE8}"/>
              </a:ext>
            </a:extLst>
          </p:cNvPr>
          <p:cNvSpPr>
            <a:spLocks xmlns:a="http://schemas.openxmlformats.org/drawingml/2006/main" noGrp="1"/>
          </p:cNvSpPr>
          <p:nvPr/>
        </p:nvSpPr>
        <p:spPr>
          <a:xfrm xmlns:a="http://schemas.openxmlformats.org/drawingml/2006/main">
            <a:off x="742950" y="41338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181E"/>
                </a:solidFill>
                <a:latin typeface="Arial"/>
                <a:ea typeface="Arial"/>
                <a:cs typeface="Arial"/>
              </a:defRPr>
            </a:pPr>
            <a:r>
              <a:rPr sz="2550" b="1">
                <a:solidFill>
                  <a:srgbClr val="D2181E"/>
                </a:solidFill>
                <a:latin typeface="Arial"/>
                <a:ea typeface="Arial"/>
                <a:cs typeface="Arial"/>
              </a:rPr>
              <a:t>Alimento</a:t>
            </a:r>
          </a:p>
        </p:txBody>
      </p:sp>
      <p:sp>
        <p:nvSpPr>
          <p:cNvPr id="15" name="">
            <a:extLst xmlns:a="http://schemas.openxmlformats.org/drawingml/2006/main">
              <a:ext uri="{FF2B5EF4-FFF2-40B4-BE49-F238E27FC236}">
                <a16:creationId xmlns:a16="http://schemas.microsoft.com/office/drawing/2014/main" id="{2F34E7E7-9166-4300-B97E-CDE10171314B}"/>
              </a:ext>
            </a:extLst>
          </p:cNvPr>
          <p:cNvSpPr>
            <a:spLocks xmlns:a="http://schemas.openxmlformats.org/drawingml/2006/main" noGrp="1"/>
          </p:cNvSpPr>
          <p:nvPr/>
        </p:nvSpPr>
        <p:spPr>
          <a:xfrm xmlns:a="http://schemas.openxmlformats.org/drawingml/2006/main">
            <a:off x="742950" y="46863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Ingreso, consumo y existencia</a:t>
            </a:r>
          </a:p>
        </p:txBody>
      </p:sp>
      <p:sp>
        <p:nvSpPr>
          <p:cNvPr id="16" name="">
            <a:extLst xmlns:a="http://schemas.openxmlformats.org/drawingml/2006/main">
              <a:ext uri="{FF2B5EF4-FFF2-40B4-BE49-F238E27FC236}">
                <a16:creationId xmlns:a16="http://schemas.microsoft.com/office/drawing/2014/main" id="{218C4421-A12C-4070-AB6A-11B102E39B38}"/>
              </a:ext>
            </a:extLst>
          </p:cNvPr>
          <p:cNvSpPr>
            <a:spLocks xmlns:a="http://schemas.openxmlformats.org/drawingml/2006/main" noGrp="1"/>
          </p:cNvSpPr>
          <p:nvPr/>
        </p:nvSpPr>
        <p:spPr>
          <a:xfrm xmlns:a="http://schemas.openxmlformats.org/drawingml/2006/main">
            <a:off x="4448175" y="41338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181E"/>
                </a:solidFill>
                <a:latin typeface="Arial"/>
                <a:ea typeface="Arial"/>
                <a:cs typeface="Arial"/>
              </a:defRPr>
            </a:pPr>
            <a:r>
              <a:rPr sz="2550" b="1">
                <a:solidFill>
                  <a:srgbClr val="D2181E"/>
                </a:solidFill>
                <a:latin typeface="Arial"/>
                <a:ea typeface="Arial"/>
                <a:cs typeface="Arial"/>
              </a:rPr>
              <a:t>Aves</a:t>
            </a:r>
          </a:p>
        </p:txBody>
      </p:sp>
      <p:sp>
        <p:nvSpPr>
          <p:cNvPr id="17" name="">
            <a:extLst xmlns:a="http://schemas.openxmlformats.org/drawingml/2006/main">
              <a:ext uri="{FF2B5EF4-FFF2-40B4-BE49-F238E27FC236}">
                <a16:creationId xmlns:a16="http://schemas.microsoft.com/office/drawing/2014/main" id="{7BCB0DED-AE04-4B0B-A1E8-B33E03CF60C3}"/>
              </a:ext>
            </a:extLst>
          </p:cNvPr>
          <p:cNvSpPr>
            <a:spLocks xmlns:a="http://schemas.openxmlformats.org/drawingml/2006/main" noGrp="1"/>
          </p:cNvSpPr>
          <p:nvPr/>
        </p:nvSpPr>
        <p:spPr>
          <a:xfrm xmlns:a="http://schemas.openxmlformats.org/drawingml/2006/main">
            <a:off x="4448175" y="46863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Pesajes, mortalidad y movimientos</a:t>
            </a:r>
          </a:p>
        </p:txBody>
      </p:sp>
      <p:sp>
        <p:nvSpPr>
          <p:cNvPr id="18" name="">
            <a:extLst xmlns:a="http://schemas.openxmlformats.org/drawingml/2006/main">
              <a:ext uri="{FF2B5EF4-FFF2-40B4-BE49-F238E27FC236}">
                <a16:creationId xmlns:a16="http://schemas.microsoft.com/office/drawing/2014/main" id="{98468B97-482B-4C51-8A31-EC431B95C4E6}"/>
              </a:ext>
            </a:extLst>
          </p:cNvPr>
          <p:cNvSpPr>
            <a:spLocks xmlns:a="http://schemas.openxmlformats.org/drawingml/2006/main" noGrp="1"/>
          </p:cNvSpPr>
          <p:nvPr/>
        </p:nvSpPr>
        <p:spPr>
          <a:xfrm xmlns:a="http://schemas.openxmlformats.org/drawingml/2006/main">
            <a:off x="8153400" y="41338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181E"/>
                </a:solidFill>
                <a:latin typeface="Arial"/>
                <a:ea typeface="Arial"/>
                <a:cs typeface="Arial"/>
              </a:defRPr>
            </a:pPr>
            <a:r>
              <a:rPr sz="2550" b="1">
                <a:solidFill>
                  <a:srgbClr val="D2181E"/>
                </a:solidFill>
                <a:latin typeface="Arial"/>
                <a:ea typeface="Arial"/>
                <a:cs typeface="Arial"/>
              </a:rPr>
              <a:t>Huevos</a:t>
            </a:r>
          </a:p>
        </p:txBody>
      </p:sp>
      <p:sp>
        <p:nvSpPr>
          <p:cNvPr id="19" name="">
            <a:extLst xmlns:a="http://schemas.openxmlformats.org/drawingml/2006/main">
              <a:ext uri="{FF2B5EF4-FFF2-40B4-BE49-F238E27FC236}">
                <a16:creationId xmlns:a16="http://schemas.microsoft.com/office/drawing/2014/main" id="{0A4C1C07-15D1-4EC7-BCCE-0612A77FFB73}"/>
              </a:ext>
            </a:extLst>
          </p:cNvPr>
          <p:cNvSpPr>
            <a:spLocks xmlns:a="http://schemas.openxmlformats.org/drawingml/2006/main" noGrp="1"/>
          </p:cNvSpPr>
          <p:nvPr/>
        </p:nvSpPr>
        <p:spPr>
          <a:xfrm xmlns:a="http://schemas.openxmlformats.org/drawingml/2006/main">
            <a:off x="8153400" y="46863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Producción, clasificación y traslados</a:t>
            </a:r>
          </a:p>
        </p:txBody>
      </p:sp>
    </p:spTree>
    <p:extLst>
      <p:ext uri="{BB962C8B-B14F-4D97-AF65-F5344CB8AC3E}">
        <p14:creationId xmlns:p14="http://schemas.microsoft.com/office/powerpoint/2010/main" val="1684659665"/>
      </p:ext>
    </p:extLst>
  </p:cSld>
</p:sld>
</file>

<file path=ppt/slides/slide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80E0F0-9403-4D7C-921E-B05D8C72B181}"/>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Arquitectura del sistema</a:t>
            </a:r>
          </a:p>
        </p:txBody>
      </p:sp>
      <p:sp>
        <p:nvSpPr>
          <p:cNvPr id="2" name="">
            <a:extLst xmlns:a="http://schemas.openxmlformats.org/drawingml/2006/main">
              <a:ext uri="{FF2B5EF4-FFF2-40B4-BE49-F238E27FC236}">
                <a16:creationId xmlns:a16="http://schemas.microsoft.com/office/drawing/2014/main" id="{4243A77B-1336-47DD-AC1C-E634E83B2B4F}"/>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740C592-102D-433C-8CB3-B1B4ACFC898F}"/>
              </a:ext>
            </a:extLst>
          </p:cNvPr>
          <p:cNvSpPr>
            <a:spLocks xmlns:a="http://schemas.openxmlformats.org/drawingml/2006/main" noGrp="1"/>
          </p:cNvSpPr>
          <p:nvPr/>
        </p:nvSpPr>
        <p:spPr>
          <a:xfrm xmlns:a="http://schemas.openxmlformats.org/drawingml/2006/main">
            <a:off x="704850" y="2333625"/>
            <a:ext cx="24765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4" name="">
            <a:extLst xmlns:a="http://schemas.openxmlformats.org/drawingml/2006/main">
              <a:ext uri="{FF2B5EF4-FFF2-40B4-BE49-F238E27FC236}">
                <a16:creationId xmlns:a16="http://schemas.microsoft.com/office/drawing/2014/main" id="{262483E9-B65F-4757-B874-8A1BD6917D19}"/>
              </a:ext>
            </a:extLst>
          </p:cNvPr>
          <p:cNvSpPr>
            <a:spLocks xmlns:a="http://schemas.openxmlformats.org/drawingml/2006/main" noGrp="1"/>
          </p:cNvSpPr>
          <p:nvPr/>
        </p:nvSpPr>
        <p:spPr>
          <a:xfrm xmlns:a="http://schemas.openxmlformats.org/drawingml/2006/main">
            <a:off x="876300" y="2524125"/>
            <a:ext cx="2133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Aplicación web</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Angular 22</a:t>
            </a:r>
          </a:p>
        </p:txBody>
      </p:sp>
      <p:sp>
        <p:nvSpPr>
          <p:cNvPr id="5" name="">
            <a:extLst xmlns:a="http://schemas.openxmlformats.org/drawingml/2006/main">
              <a:ext uri="{FF2B5EF4-FFF2-40B4-BE49-F238E27FC236}">
                <a16:creationId xmlns:a16="http://schemas.microsoft.com/office/drawing/2014/main" id="{C9BDCDF0-B394-4C56-9E82-8363B8D2C42B}"/>
              </a:ext>
            </a:extLst>
          </p:cNvPr>
          <p:cNvSpPr>
            <a:spLocks xmlns:a="http://schemas.openxmlformats.org/drawingml/2006/main" noGrp="1"/>
          </p:cNvSpPr>
          <p:nvPr/>
        </p:nvSpPr>
        <p:spPr>
          <a:xfrm xmlns:a="http://schemas.openxmlformats.org/drawingml/2006/main">
            <a:off x="3343275" y="2819400"/>
            <a:ext cx="4572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676389-24FD-4BFF-A5ED-E3EC809F738C}"/>
              </a:ext>
            </a:extLst>
          </p:cNvPr>
          <p:cNvSpPr>
            <a:spLocks xmlns:a="http://schemas.openxmlformats.org/drawingml/2006/main" noGrp="1"/>
          </p:cNvSpPr>
          <p:nvPr/>
        </p:nvSpPr>
        <p:spPr>
          <a:xfrm xmlns:a="http://schemas.openxmlformats.org/drawingml/2006/main">
            <a:off x="4000500" y="2333625"/>
            <a:ext cx="3143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11843BB6-5953-4D3C-AF8D-42086FAF06AC}"/>
              </a:ext>
            </a:extLst>
          </p:cNvPr>
          <p:cNvSpPr>
            <a:spLocks xmlns:a="http://schemas.openxmlformats.org/drawingml/2006/main" noGrp="1"/>
          </p:cNvSpPr>
          <p:nvPr/>
        </p:nvSpPr>
        <p:spPr>
          <a:xfrm xmlns:a="http://schemas.openxmlformats.org/drawingml/2006/main">
            <a:off x="4171950" y="2524125"/>
            <a:ext cx="28003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Servicios centrales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API .NET 10</a:t>
            </a:r>
          </a:p>
        </p:txBody>
      </p:sp>
      <p:sp>
        <p:nvSpPr>
          <p:cNvPr id="8" name="">
            <a:extLst xmlns:a="http://schemas.openxmlformats.org/drawingml/2006/main">
              <a:ext uri="{FF2B5EF4-FFF2-40B4-BE49-F238E27FC236}">
                <a16:creationId xmlns:a16="http://schemas.microsoft.com/office/drawing/2014/main" id="{EBF68C14-5850-4E25-8614-0FA969EAA01F}"/>
              </a:ext>
            </a:extLst>
          </p:cNvPr>
          <p:cNvSpPr>
            <a:spLocks xmlns:a="http://schemas.openxmlformats.org/drawingml/2006/main" noGrp="1"/>
          </p:cNvSpPr>
          <p:nvPr/>
        </p:nvSpPr>
        <p:spPr>
          <a:xfrm xmlns:a="http://schemas.openxmlformats.org/drawingml/2006/main">
            <a:off x="7334250" y="2819400"/>
            <a:ext cx="4572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C29460-797B-4DCA-9B80-26192FE310DD}"/>
              </a:ext>
            </a:extLst>
          </p:cNvPr>
          <p:cNvSpPr>
            <a:spLocks xmlns:a="http://schemas.openxmlformats.org/drawingml/2006/main" noGrp="1"/>
          </p:cNvSpPr>
          <p:nvPr/>
        </p:nvSpPr>
        <p:spPr>
          <a:xfrm xmlns:a="http://schemas.openxmlformats.org/drawingml/2006/main">
            <a:off x="8029575" y="2333625"/>
            <a:ext cx="338137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0" name="">
            <a:extLst xmlns:a="http://schemas.openxmlformats.org/drawingml/2006/main">
              <a:ext uri="{FF2B5EF4-FFF2-40B4-BE49-F238E27FC236}">
                <a16:creationId xmlns:a16="http://schemas.microsoft.com/office/drawing/2014/main" id="{573C5E61-C3E6-4CFC-83A1-FD58FAE0A800}"/>
              </a:ext>
            </a:extLst>
          </p:cNvPr>
          <p:cNvSpPr>
            <a:spLocks xmlns:a="http://schemas.openxmlformats.org/drawingml/2006/main" noGrp="1"/>
          </p:cNvSpPr>
          <p:nvPr/>
        </p:nvSpPr>
        <p:spPr>
          <a:xfrm xmlns:a="http://schemas.openxmlformats.org/drawingml/2006/main">
            <a:off x="8201025" y="2524125"/>
            <a:ext cx="3038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Datos centrales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PostgreSQL</a:t>
            </a:r>
          </a:p>
        </p:txBody>
      </p:sp>
      <p:sp>
        <p:nvSpPr>
          <p:cNvPr id="11" name="">
            <a:extLst xmlns:a="http://schemas.openxmlformats.org/drawingml/2006/main">
              <a:ext uri="{FF2B5EF4-FFF2-40B4-BE49-F238E27FC236}">
                <a16:creationId xmlns:a16="http://schemas.microsoft.com/office/drawing/2014/main" id="{FA924C93-94AC-49AA-A2CA-D1DC1BD85F09}"/>
              </a:ext>
            </a:extLst>
          </p:cNvPr>
          <p:cNvSpPr>
            <a:spLocks xmlns:a="http://schemas.openxmlformats.org/drawingml/2006/main" noGrp="1"/>
          </p:cNvSpPr>
          <p:nvPr/>
        </p:nvSpPr>
        <p:spPr>
          <a:xfrm xmlns:a="http://schemas.openxmlformats.org/drawingml/2006/main">
            <a:off x="704850" y="385762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Usuarios y permisos</a:t>
            </a:r>
          </a:p>
        </p:txBody>
      </p:sp>
      <p:sp>
        <p:nvSpPr>
          <p:cNvPr id="12" name="">
            <a:extLst xmlns:a="http://schemas.openxmlformats.org/drawingml/2006/main">
              <a:ext uri="{FF2B5EF4-FFF2-40B4-BE49-F238E27FC236}">
                <a16:creationId xmlns:a16="http://schemas.microsoft.com/office/drawing/2014/main" id="{B7E2CC16-8C0E-49DA-A960-A03648BBF945}"/>
              </a:ext>
            </a:extLst>
          </p:cNvPr>
          <p:cNvSpPr>
            <a:spLocks xmlns:a="http://schemas.openxmlformats.org/drawingml/2006/main" noGrp="1"/>
          </p:cNvSpPr>
          <p:nvPr/>
        </p:nvSpPr>
        <p:spPr>
          <a:xfrm xmlns:a="http://schemas.openxmlformats.org/drawingml/2006/main">
            <a:off x="704850" y="4400550"/>
            <a:ext cx="276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Pantallas, formularios</a:t>
            </a:r>
          </a:p>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y reportes</a:t>
            </a:r>
          </a:p>
        </p:txBody>
      </p:sp>
      <p:sp>
        <p:nvSpPr>
          <p:cNvPr id="13" name="">
            <a:extLst xmlns:a="http://schemas.openxmlformats.org/drawingml/2006/main">
              <a:ext uri="{FF2B5EF4-FFF2-40B4-BE49-F238E27FC236}">
                <a16:creationId xmlns:a16="http://schemas.microsoft.com/office/drawing/2014/main" id="{92DDF69E-0FEB-40F6-ABBE-5D0D401B6B2C}"/>
              </a:ext>
            </a:extLst>
          </p:cNvPr>
          <p:cNvSpPr>
            <a:spLocks xmlns:a="http://schemas.openxmlformats.org/drawingml/2006/main" noGrp="1"/>
          </p:cNvSpPr>
          <p:nvPr/>
        </p:nvSpPr>
        <p:spPr>
          <a:xfrm xmlns:a="http://schemas.openxmlformats.org/drawingml/2006/main">
            <a:off x="4000500" y="3857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Reglas de operación</a:t>
            </a:r>
          </a:p>
        </p:txBody>
      </p:sp>
      <p:sp>
        <p:nvSpPr>
          <p:cNvPr id="14" name="">
            <a:extLst xmlns:a="http://schemas.openxmlformats.org/drawingml/2006/main">
              <a:ext uri="{FF2B5EF4-FFF2-40B4-BE49-F238E27FC236}">
                <a16:creationId xmlns:a16="http://schemas.microsoft.com/office/drawing/2014/main" id="{72BC777F-AB2A-4CEC-93EE-14A355576772}"/>
              </a:ext>
            </a:extLst>
          </p:cNvPr>
          <p:cNvSpPr>
            <a:spLocks xmlns:a="http://schemas.openxmlformats.org/drawingml/2006/main" noGrp="1"/>
          </p:cNvSpPr>
          <p:nvPr/>
        </p:nvSpPr>
        <p:spPr>
          <a:xfrm xmlns:a="http://schemas.openxmlformats.org/drawingml/2006/main">
            <a:off x="4000500" y="44005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Validación y procesamiento</a:t>
            </a:r>
          </a:p>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con acceso por empresa</a:t>
            </a:r>
          </a:p>
        </p:txBody>
      </p:sp>
      <p:sp>
        <p:nvSpPr>
          <p:cNvPr id="15" name="">
            <a:extLst xmlns:a="http://schemas.openxmlformats.org/drawingml/2006/main">
              <a:ext uri="{FF2B5EF4-FFF2-40B4-BE49-F238E27FC236}">
                <a16:creationId xmlns:a16="http://schemas.microsoft.com/office/drawing/2014/main" id="{672346B6-4566-4388-A15B-562C28846F7E}"/>
              </a:ext>
            </a:extLst>
          </p:cNvPr>
          <p:cNvSpPr>
            <a:spLocks xmlns:a="http://schemas.openxmlformats.org/drawingml/2006/main" noGrp="1"/>
          </p:cNvSpPr>
          <p:nvPr/>
        </p:nvSpPr>
        <p:spPr>
          <a:xfrm xmlns:a="http://schemas.openxmlformats.org/drawingml/2006/main">
            <a:off x="8029575" y="385762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Trazabilidad</a:t>
            </a:r>
          </a:p>
        </p:txBody>
      </p:sp>
      <p:sp>
        <p:nvSpPr>
          <p:cNvPr id="16" name="">
            <a:extLst xmlns:a="http://schemas.openxmlformats.org/drawingml/2006/main">
              <a:ext uri="{FF2B5EF4-FFF2-40B4-BE49-F238E27FC236}">
                <a16:creationId xmlns:a16="http://schemas.microsoft.com/office/drawing/2014/main" id="{530C1A91-A097-4A27-870D-C07D85603A89}"/>
              </a:ext>
            </a:extLst>
          </p:cNvPr>
          <p:cNvSpPr>
            <a:spLocks xmlns:a="http://schemas.openxmlformats.org/drawingml/2006/main" noGrp="1"/>
          </p:cNvSpPr>
          <p:nvPr/>
        </p:nvSpPr>
        <p:spPr>
          <a:xfrm xmlns:a="http://schemas.openxmlformats.org/drawingml/2006/main">
            <a:off x="8029575" y="44005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Registros y consultas</a:t>
            </a:r>
          </a:p>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compartidos por los servicios</a:t>
            </a:r>
          </a:p>
        </p:txBody>
      </p:sp>
      <p:sp>
        <p:nvSpPr>
          <p:cNvPr id="17" name="">
            <a:extLst xmlns:a="http://schemas.openxmlformats.org/drawingml/2006/main">
              <a:ext uri="{FF2B5EF4-FFF2-40B4-BE49-F238E27FC236}">
                <a16:creationId xmlns:a16="http://schemas.microsoft.com/office/drawing/2014/main" id="{8FBCE769-3E9D-4D3C-8F74-A24FBEB950D6}"/>
              </a:ext>
            </a:extLst>
          </p:cNvPr>
          <p:cNvSpPr>
            <a:spLocks xmlns:a="http://schemas.openxmlformats.org/drawingml/2006/main" noGrp="1"/>
          </p:cNvSpPr>
          <p:nvPr/>
        </p:nvSpPr>
        <p:spPr>
          <a:xfrm xmlns:a="http://schemas.openxmlformats.org/drawingml/2006/main">
            <a:off x="704850" y="5600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AWS: ECS y Nginx para la aplicación, RDS para los datos</a:t>
            </a:r>
          </a:p>
        </p:txBody>
      </p:sp>
    </p:spTree>
    <p:extLst>
      <p:ext uri="{BB962C8B-B14F-4D97-AF65-F5344CB8AC3E}">
        <p14:creationId xmlns:p14="http://schemas.microsoft.com/office/powerpoint/2010/main" val="61958408"/>
      </p:ext>
    </p:extLst>
  </p:cSld>
</p:sld>
</file>

<file path=ppt/slides/slide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2BD4CCC-FDC0-49B9-BD68-D10BBA97E5BE}"/>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La plataforma web en operación</a:t>
            </a:r>
          </a:p>
        </p:txBody>
      </p:sp>
      <p:sp>
        <p:nvSpPr>
          <p:cNvPr id="2" name="">
            <a:extLst xmlns:a="http://schemas.openxmlformats.org/drawingml/2006/main">
              <a:ext uri="{FF2B5EF4-FFF2-40B4-BE49-F238E27FC236}">
                <a16:creationId xmlns:a16="http://schemas.microsoft.com/office/drawing/2014/main" id="{621773D0-340F-43AF-AA4C-65BCC0339CE8}"/>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2874985-B957-4686-923B-AA96B94D7E76}"/>
              </a:ext>
            </a:extLst>
          </p:cNvPr>
          <p:cNvSpPr>
            <a:spLocks xmlns:a="http://schemas.openxmlformats.org/drawingml/2006/main" noGrp="1"/>
          </p:cNvSpPr>
          <p:nvPr/>
        </p:nvSpPr>
        <p:spPr>
          <a:xfrm xmlns:a="http://schemas.openxmlformats.org/drawingml/2006/main">
            <a:off x="704850" y="17907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Organización y acceso</a:t>
            </a:r>
          </a:p>
        </p:txBody>
      </p:sp>
      <p:sp>
        <p:nvSpPr>
          <p:cNvPr id="4" name="">
            <a:extLst xmlns:a="http://schemas.openxmlformats.org/drawingml/2006/main">
              <a:ext uri="{FF2B5EF4-FFF2-40B4-BE49-F238E27FC236}">
                <a16:creationId xmlns:a16="http://schemas.microsoft.com/office/drawing/2014/main" id="{7874495C-CA2D-40E2-9824-0398D635A72E}"/>
              </a:ext>
            </a:extLst>
          </p:cNvPr>
          <p:cNvSpPr>
            <a:spLocks xmlns:a="http://schemas.openxmlformats.org/drawingml/2006/main" noGrp="1"/>
          </p:cNvSpPr>
          <p:nvPr/>
        </p:nvSpPr>
        <p:spPr>
          <a:xfrm xmlns:a="http://schemas.openxmlformats.org/drawingml/2006/main">
            <a:off x="704850" y="2200275"/>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Empresas, granjas, lotes, usuarios y perfiles.</a:t>
            </a:r>
          </a:p>
        </p:txBody>
      </p:sp>
      <p:sp>
        <p:nvSpPr>
          <p:cNvPr id="5" name="">
            <a:extLst xmlns:a="http://schemas.openxmlformats.org/drawingml/2006/main">
              <a:ext uri="{FF2B5EF4-FFF2-40B4-BE49-F238E27FC236}">
                <a16:creationId xmlns:a16="http://schemas.microsoft.com/office/drawing/2014/main" id="{7E735F38-1519-403D-8AED-1A343A14A082}"/>
              </a:ext>
            </a:extLst>
          </p:cNvPr>
          <p:cNvSpPr>
            <a:spLocks xmlns:a="http://schemas.openxmlformats.org/drawingml/2006/main" noGrp="1"/>
          </p:cNvSpPr>
          <p:nvPr/>
        </p:nvSpPr>
        <p:spPr>
          <a:xfrm xmlns:a="http://schemas.openxmlformats.org/drawingml/2006/main">
            <a:off x="704850" y="31432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Alimento e inventario</a:t>
            </a:r>
          </a:p>
        </p:txBody>
      </p:sp>
      <p:sp>
        <p:nvSpPr>
          <p:cNvPr id="6" name="">
            <a:extLst xmlns:a="http://schemas.openxmlformats.org/drawingml/2006/main">
              <a:ext uri="{FF2B5EF4-FFF2-40B4-BE49-F238E27FC236}">
                <a16:creationId xmlns:a16="http://schemas.microsoft.com/office/drawing/2014/main" id="{654F0F12-621F-4CF3-8AA5-B3C68CD7DFAA}"/>
              </a:ext>
            </a:extLst>
          </p:cNvPr>
          <p:cNvSpPr>
            <a:spLocks xmlns:a="http://schemas.openxmlformats.org/drawingml/2006/main" noGrp="1"/>
          </p:cNvSpPr>
          <p:nvPr/>
        </p:nvSpPr>
        <p:spPr>
          <a:xfrm xmlns:a="http://schemas.openxmlformats.org/drawingml/2006/main">
            <a:off x="704850" y="3552825"/>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Ingresos, existencias y consumo.</a:t>
            </a:r>
          </a:p>
        </p:txBody>
      </p:sp>
      <p:sp>
        <p:nvSpPr>
          <p:cNvPr id="7" name="">
            <a:extLst xmlns:a="http://schemas.openxmlformats.org/drawingml/2006/main">
              <a:ext uri="{FF2B5EF4-FFF2-40B4-BE49-F238E27FC236}">
                <a16:creationId xmlns:a16="http://schemas.microsoft.com/office/drawing/2014/main" id="{D4C0134D-7113-4B94-AA73-EE6AF22223A5}"/>
              </a:ext>
            </a:extLst>
          </p:cNvPr>
          <p:cNvSpPr>
            <a:spLocks xmlns:a="http://schemas.openxmlformats.org/drawingml/2006/main" noGrp="1"/>
          </p:cNvSpPr>
          <p:nvPr/>
        </p:nvSpPr>
        <p:spPr>
          <a:xfrm xmlns:a="http://schemas.openxmlformats.org/drawingml/2006/main">
            <a:off x="704850" y="44958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Seguimiento diario</a:t>
            </a:r>
          </a:p>
        </p:txBody>
      </p:sp>
      <p:sp>
        <p:nvSpPr>
          <p:cNvPr id="8" name="">
            <a:extLst xmlns:a="http://schemas.openxmlformats.org/drawingml/2006/main">
              <a:ext uri="{FF2B5EF4-FFF2-40B4-BE49-F238E27FC236}">
                <a16:creationId xmlns:a16="http://schemas.microsoft.com/office/drawing/2014/main" id="{34E6399A-4B8D-4B6F-9B2A-E87F938C862F}"/>
              </a:ext>
            </a:extLst>
          </p:cNvPr>
          <p:cNvSpPr>
            <a:spLocks xmlns:a="http://schemas.openxmlformats.org/drawingml/2006/main" noGrp="1"/>
          </p:cNvSpPr>
          <p:nvPr/>
        </p:nvSpPr>
        <p:spPr>
          <a:xfrm xmlns:a="http://schemas.openxmlformats.org/drawingml/2006/main">
            <a:off x="704850" y="4905375"/>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Novedades, pesajes y mortalidad.</a:t>
            </a:r>
          </a:p>
        </p:txBody>
      </p:sp>
      <p:sp>
        <p:nvSpPr>
          <p:cNvPr id="9" name="">
            <a:extLst xmlns:a="http://schemas.openxmlformats.org/drawingml/2006/main">
              <a:ext uri="{FF2B5EF4-FFF2-40B4-BE49-F238E27FC236}">
                <a16:creationId xmlns:a16="http://schemas.microsoft.com/office/drawing/2014/main" id="{F16CCFAD-A577-461B-809F-C0B7F8BCC86D}"/>
              </a:ext>
            </a:extLst>
          </p:cNvPr>
          <p:cNvSpPr>
            <a:spLocks xmlns:a="http://schemas.openxmlformats.org/drawingml/2006/main" noGrp="1"/>
          </p:cNvSpPr>
          <p:nvPr/>
        </p:nvSpPr>
        <p:spPr>
          <a:xfrm xmlns:a="http://schemas.openxmlformats.org/drawingml/2006/main">
            <a:off x="6486525" y="17907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Producción y movimientos</a:t>
            </a:r>
          </a:p>
        </p:txBody>
      </p:sp>
      <p:sp>
        <p:nvSpPr>
          <p:cNvPr id="10" name="">
            <a:extLst xmlns:a="http://schemas.openxmlformats.org/drawingml/2006/main">
              <a:ext uri="{FF2B5EF4-FFF2-40B4-BE49-F238E27FC236}">
                <a16:creationId xmlns:a16="http://schemas.microsoft.com/office/drawing/2014/main" id="{0A85EAB2-77AA-4F50-8210-169A9CBA2CAE}"/>
              </a:ext>
            </a:extLst>
          </p:cNvPr>
          <p:cNvSpPr>
            <a:spLocks xmlns:a="http://schemas.openxmlformats.org/drawingml/2006/main" noGrp="1"/>
          </p:cNvSpPr>
          <p:nvPr/>
        </p:nvSpPr>
        <p:spPr>
          <a:xfrm xmlns:a="http://schemas.openxmlformats.org/drawingml/2006/main">
            <a:off x="6486525" y="22002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Huevos, clasificación y traslados.</a:t>
            </a:r>
          </a:p>
        </p:txBody>
      </p:sp>
      <p:sp>
        <p:nvSpPr>
          <p:cNvPr id="11" name="">
            <a:extLst xmlns:a="http://schemas.openxmlformats.org/drawingml/2006/main">
              <a:ext uri="{FF2B5EF4-FFF2-40B4-BE49-F238E27FC236}">
                <a16:creationId xmlns:a16="http://schemas.microsoft.com/office/drawing/2014/main" id="{A8991C01-716C-4AA4-8688-13FB26707700}"/>
              </a:ext>
            </a:extLst>
          </p:cNvPr>
          <p:cNvSpPr>
            <a:spLocks xmlns:a="http://schemas.openxmlformats.org/drawingml/2006/main" noGrp="1"/>
          </p:cNvSpPr>
          <p:nvPr/>
        </p:nvSpPr>
        <p:spPr>
          <a:xfrm xmlns:a="http://schemas.openxmlformats.org/drawingml/2006/main">
            <a:off x="6486525" y="3143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Indicadores y reportes</a:t>
            </a:r>
          </a:p>
        </p:txBody>
      </p:sp>
      <p:sp>
        <p:nvSpPr>
          <p:cNvPr id="12" name="">
            <a:extLst xmlns:a="http://schemas.openxmlformats.org/drawingml/2006/main">
              <a:ext uri="{FF2B5EF4-FFF2-40B4-BE49-F238E27FC236}">
                <a16:creationId xmlns:a16="http://schemas.microsoft.com/office/drawing/2014/main" id="{3960CB59-4B09-4436-8808-4CF0E5022FA2}"/>
              </a:ext>
            </a:extLst>
          </p:cNvPr>
          <p:cNvSpPr>
            <a:spLocks xmlns:a="http://schemas.openxmlformats.org/drawingml/2006/main" noGrp="1"/>
          </p:cNvSpPr>
          <p:nvPr/>
        </p:nvSpPr>
        <p:spPr>
          <a:xfrm xmlns:a="http://schemas.openxmlformats.org/drawingml/2006/main">
            <a:off x="6486525" y="355282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Información técnica, productiva y de costos.</a:t>
            </a:r>
          </a:p>
        </p:txBody>
      </p:sp>
      <p:sp>
        <p:nvSpPr>
          <p:cNvPr id="13" name="">
            <a:extLst xmlns:a="http://schemas.openxmlformats.org/drawingml/2006/main">
              <a:ext uri="{FF2B5EF4-FFF2-40B4-BE49-F238E27FC236}">
                <a16:creationId xmlns:a16="http://schemas.microsoft.com/office/drawing/2014/main" id="{081F31D4-A620-4F0A-8C0B-372A47D6CEAF}"/>
              </a:ext>
            </a:extLst>
          </p:cNvPr>
          <p:cNvSpPr>
            <a:spLocks xmlns:a="http://schemas.openxmlformats.org/drawingml/2006/main" noGrp="1"/>
          </p:cNvSpPr>
          <p:nvPr/>
        </p:nvSpPr>
        <p:spPr>
          <a:xfrm xmlns:a="http://schemas.openxmlformats.org/drawingml/2006/main">
            <a:off x="6486525" y="44958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Consulta actualizada</a:t>
            </a:r>
          </a:p>
        </p:txBody>
      </p:sp>
      <p:sp>
        <p:nvSpPr>
          <p:cNvPr id="14" name="">
            <a:extLst xmlns:a="http://schemas.openxmlformats.org/drawingml/2006/main">
              <a:ext uri="{FF2B5EF4-FFF2-40B4-BE49-F238E27FC236}">
                <a16:creationId xmlns:a16="http://schemas.microsoft.com/office/drawing/2014/main" id="{36EEF2DC-8FDC-489C-8A09-0A21E6457455}"/>
              </a:ext>
            </a:extLst>
          </p:cNvPr>
          <p:cNvSpPr>
            <a:spLocks xmlns:a="http://schemas.openxmlformats.org/drawingml/2006/main" noGrp="1"/>
          </p:cNvSpPr>
          <p:nvPr/>
        </p:nvSpPr>
        <p:spPr>
          <a:xfrm xmlns:a="http://schemas.openxmlformats.org/drawingml/2006/main">
            <a:off x="6486525" y="49053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Datos disponibles tras el registro y proceso.</a:t>
            </a:r>
          </a:p>
        </p:txBody>
      </p:sp>
    </p:spTree>
    <p:extLst>
      <p:ext uri="{BB962C8B-B14F-4D97-AF65-F5344CB8AC3E}">
        <p14:creationId xmlns:p14="http://schemas.microsoft.com/office/powerpoint/2010/main" val="1585597297"/>
      </p:ext>
    </p:extLst>
  </p:cSld>
</p:sld>
</file>

<file path=ppt/slides/slide7.xml><?xml version="1.0" encoding="utf-8"?>
<p:sld xmlns:p="http://schemas.openxmlformats.org/presentationml/2006/main">
  <p:cSld>
    <p:bg>
      <p:bgPr>
        <a:solidFill xmlns:a="http://schemas.openxmlformats.org/drawingml/2006/main">
          <a:srgbClr val="262A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4495E4-68D1-4DF9-AB71-F6FFE4EEE7B0}"/>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Aplicación móvil</a:t>
            </a:r>
          </a:p>
        </p:txBody>
      </p:sp>
      <p:sp>
        <p:nvSpPr>
          <p:cNvPr id="2" name="">
            <a:extLst xmlns:a="http://schemas.openxmlformats.org/drawingml/2006/main">
              <a:ext uri="{FF2B5EF4-FFF2-40B4-BE49-F238E27FC236}">
                <a16:creationId xmlns:a16="http://schemas.microsoft.com/office/drawing/2014/main" id="{314033E5-9A8B-4C54-8540-7D9CBBE354A0}"/>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6C6C6"/>
                </a:solidFill>
                <a:latin typeface="Arial"/>
                <a:ea typeface="Arial"/>
                <a:cs typeface="Arial"/>
              </a:defRPr>
            </a:pPr>
            <a:r>
              <a:rPr sz="1350" b="0">
                <a:solidFill>
                  <a:srgbClr val="C6C6C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E799B57-20E9-4ED5-AE83-19836CF9CE80}"/>
              </a:ext>
            </a:extLst>
          </p:cNvPr>
          <p:cNvSpPr>
            <a:spLocks xmlns:a="http://schemas.openxmlformats.org/drawingml/2006/main" noGrp="1"/>
          </p:cNvSpPr>
          <p:nvPr/>
        </p:nvSpPr>
        <p:spPr>
          <a:xfrm xmlns:a="http://schemas.openxmlformats.org/drawingml/2006/main">
            <a:off x="685800" y="1752600"/>
            <a:ext cx="647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80–90 %</a:t>
            </a:r>
          </a:p>
        </p:txBody>
      </p:sp>
      <p:sp>
        <p:nvSpPr>
          <p:cNvPr id="4" name="">
            <a:extLst xmlns:a="http://schemas.openxmlformats.org/drawingml/2006/main">
              <a:ext uri="{FF2B5EF4-FFF2-40B4-BE49-F238E27FC236}">
                <a16:creationId xmlns:a16="http://schemas.microsoft.com/office/drawing/2014/main" id="{8A83C7E1-F628-4C9A-B7B6-5C8DC3965DA2}"/>
              </a:ext>
            </a:extLst>
          </p:cNvPr>
          <p:cNvSpPr>
            <a:spLocks xmlns:a="http://schemas.openxmlformats.org/drawingml/2006/main" noGrp="1"/>
          </p:cNvSpPr>
          <p:nvPr/>
        </p:nvSpPr>
        <p:spPr>
          <a:xfrm xmlns:a="http://schemas.openxmlformats.org/drawingml/2006/main">
            <a:off x="771525" y="3495675"/>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18B5C"/>
                </a:solidFill>
                <a:latin typeface="Arial"/>
                <a:ea typeface="Arial"/>
                <a:cs typeface="Arial"/>
              </a:defRPr>
            </a:pPr>
            <a:r>
              <a:rPr sz="2550" b="1">
                <a:solidFill>
                  <a:srgbClr val="F18B5C"/>
                </a:solidFill>
                <a:latin typeface="Arial"/>
                <a:ea typeface="Arial"/>
                <a:cs typeface="Arial"/>
              </a:rPr>
              <a:t>Avance estimado</a:t>
            </a:r>
          </a:p>
        </p:txBody>
      </p:sp>
      <p:sp>
        <p:nvSpPr>
          <p:cNvPr id="5" name="">
            <a:extLst xmlns:a="http://schemas.openxmlformats.org/drawingml/2006/main">
              <a:ext uri="{FF2B5EF4-FFF2-40B4-BE49-F238E27FC236}">
                <a16:creationId xmlns:a16="http://schemas.microsoft.com/office/drawing/2014/main" id="{070414F2-9ED4-44BA-A23B-98152FF1ADD6}"/>
              </a:ext>
            </a:extLst>
          </p:cNvPr>
          <p:cNvSpPr>
            <a:spLocks xmlns:a="http://schemas.openxmlformats.org/drawingml/2006/main" noGrp="1"/>
          </p:cNvSpPr>
          <p:nvPr/>
        </p:nvSpPr>
        <p:spPr>
          <a:xfrm xmlns:a="http://schemas.openxmlformats.org/drawingml/2006/main">
            <a:off x="771525" y="439102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Todavía sin desplegar</a:t>
            </a:r>
          </a:p>
        </p:txBody>
      </p:sp>
      <p:sp>
        <p:nvSpPr>
          <p:cNvPr id="6" name="">
            <a:extLst xmlns:a="http://schemas.openxmlformats.org/drawingml/2006/main">
              <a:ext uri="{FF2B5EF4-FFF2-40B4-BE49-F238E27FC236}">
                <a16:creationId xmlns:a16="http://schemas.microsoft.com/office/drawing/2014/main" id="{5D8A4E24-957B-4535-AA08-372E4815403B}"/>
              </a:ext>
            </a:extLst>
          </p:cNvPr>
          <p:cNvSpPr>
            <a:spLocks xmlns:a="http://schemas.openxmlformats.org/drawingml/2006/main" noGrp="1"/>
          </p:cNvSpPr>
          <p:nvPr/>
        </p:nvSpPr>
        <p:spPr>
          <a:xfrm xmlns:a="http://schemas.openxmlformats.org/drawingml/2006/main">
            <a:off x="771525" y="528637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6C6"/>
                </a:solidFill>
                <a:latin typeface="Arial"/>
                <a:ea typeface="Arial"/>
                <a:cs typeface="Arial"/>
              </a:defRPr>
            </a:pPr>
            <a:r>
              <a:rPr sz="1650" b="0">
                <a:solidFill>
                  <a:srgbClr val="C6C6C6"/>
                </a:solidFill>
                <a:latin typeface="Arial"/>
                <a:ea typeface="Arial"/>
                <a:cs typeface="Arial"/>
              </a:rPr>
              <a:t>Estimación del responsable del proyecto</a:t>
            </a:r>
          </a:p>
        </p:txBody>
      </p:sp>
      <p:sp>
        <p:nvSpPr>
          <p:cNvPr id="7" name="">
            <a:extLst xmlns:a="http://schemas.openxmlformats.org/drawingml/2006/main">
              <a:ext uri="{FF2B5EF4-FFF2-40B4-BE49-F238E27FC236}">
                <a16:creationId xmlns:a16="http://schemas.microsoft.com/office/drawing/2014/main" id="{B0632D00-5B1B-4B2C-964C-6386BA7EE6E0}"/>
              </a:ext>
            </a:extLst>
          </p:cNvPr>
          <p:cNvSpPr>
            <a:spLocks xmlns:a="http://schemas.openxmlformats.org/drawingml/2006/main" noGrp="1"/>
          </p:cNvSpPr>
          <p:nvPr/>
        </p:nvSpPr>
        <p:spPr>
          <a:xfrm xmlns:a="http://schemas.openxmlformats.org/drawingml/2006/main">
            <a:off x="7877175" y="1971675"/>
            <a:ext cx="3619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La operación orienta</a:t>
            </a:r>
          </a:p>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los ajustes</a:t>
            </a:r>
          </a:p>
        </p:txBody>
      </p:sp>
      <p:sp>
        <p:nvSpPr>
          <p:cNvPr id="8" name="">
            <a:extLst xmlns:a="http://schemas.openxmlformats.org/drawingml/2006/main">
              <a:ext uri="{FF2B5EF4-FFF2-40B4-BE49-F238E27FC236}">
                <a16:creationId xmlns:a16="http://schemas.microsoft.com/office/drawing/2014/main" id="{9A360A1A-E9BF-42B7-B63D-EACD17FE77D9}"/>
              </a:ext>
            </a:extLst>
          </p:cNvPr>
          <p:cNvSpPr>
            <a:spLocks xmlns:a="http://schemas.openxmlformats.org/drawingml/2006/main" noGrp="1"/>
          </p:cNvSpPr>
          <p:nvPr/>
        </p:nvSpPr>
        <p:spPr>
          <a:xfrm xmlns:a="http://schemas.openxmlformats.org/drawingml/2006/main">
            <a:off x="7877175" y="3429000"/>
            <a:ext cx="3476625"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D2CB"/>
                </a:solidFill>
                <a:latin typeface="Arial"/>
                <a:ea typeface="Arial"/>
                <a:cs typeface="Arial"/>
              </a:defRPr>
            </a:pPr>
            <a:r>
              <a:rPr sz="2100" b="0">
                <a:solidFill>
                  <a:srgbClr val="D8D2CB"/>
                </a:solidFill>
                <a:latin typeface="Arial"/>
                <a:ea typeface="Arial"/>
                <a:cs typeface="Arial"/>
              </a:rPr>
              <a:t>El cierre depende de consolidar el flujo y finalizar la implementación de postura en San Marino.</a:t>
            </a:r>
          </a:p>
        </p:txBody>
      </p:sp>
    </p:spTree>
    <p:extLst>
      <p:ext uri="{BB962C8B-B14F-4D97-AF65-F5344CB8AC3E}">
        <p14:creationId xmlns:p14="http://schemas.microsoft.com/office/powerpoint/2010/main" val="584393215"/>
      </p:ext>
    </p:extLst>
  </p:cSld>
</p:sld>
</file>

<file path=ppt/slides/slide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E1CB3E1-4DB6-43F4-B6ED-11D4C70F68BF}"/>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Siguiente etapa: integración ERP</a:t>
            </a:r>
          </a:p>
        </p:txBody>
      </p:sp>
      <p:sp>
        <p:nvSpPr>
          <p:cNvPr id="2" name="">
            <a:extLst xmlns:a="http://schemas.openxmlformats.org/drawingml/2006/main">
              <a:ext uri="{FF2B5EF4-FFF2-40B4-BE49-F238E27FC236}">
                <a16:creationId xmlns:a16="http://schemas.microsoft.com/office/drawing/2014/main" id="{A1B969EF-351C-4737-B1E1-F9958941FF67}"/>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8450E7C-F03D-4D9A-99AE-922B826E1FAC}"/>
              </a:ext>
            </a:extLst>
          </p:cNvPr>
          <p:cNvSpPr>
            <a:spLocks xmlns:a="http://schemas.openxmlformats.org/drawingml/2006/main" noGrp="1"/>
          </p:cNvSpPr>
          <p:nvPr/>
        </p:nvSpPr>
        <p:spPr>
          <a:xfrm xmlns:a="http://schemas.openxmlformats.org/drawingml/2006/main">
            <a:off x="704850" y="2076450"/>
            <a:ext cx="2952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4" name="">
            <a:extLst xmlns:a="http://schemas.openxmlformats.org/drawingml/2006/main">
              <a:ext uri="{FF2B5EF4-FFF2-40B4-BE49-F238E27FC236}">
                <a16:creationId xmlns:a16="http://schemas.microsoft.com/office/drawing/2014/main" id="{39A67D88-DD78-4E87-BCF4-5039CE29B2D8}"/>
              </a:ext>
            </a:extLst>
          </p:cNvPr>
          <p:cNvSpPr>
            <a:spLocks xmlns:a="http://schemas.openxmlformats.org/drawingml/2006/main" noGrp="1"/>
          </p:cNvSpPr>
          <p:nvPr/>
        </p:nvSpPr>
        <p:spPr>
          <a:xfrm xmlns:a="http://schemas.openxmlformats.org/drawingml/2006/main">
            <a:off x="876300" y="2266950"/>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ItalGranja</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Operación avícola</a:t>
            </a:r>
          </a:p>
        </p:txBody>
      </p:sp>
      <p:sp>
        <p:nvSpPr>
          <p:cNvPr id="5" name="">
            <a:extLst xmlns:a="http://schemas.openxmlformats.org/drawingml/2006/main">
              <a:ext uri="{FF2B5EF4-FFF2-40B4-BE49-F238E27FC236}">
                <a16:creationId xmlns:a16="http://schemas.microsoft.com/office/drawing/2014/main" id="{FA46C174-C4C6-4AB7-BF80-0A570B0D9300}"/>
              </a:ext>
            </a:extLst>
          </p:cNvPr>
          <p:cNvSpPr>
            <a:spLocks xmlns:a="http://schemas.openxmlformats.org/drawingml/2006/main" noGrp="1"/>
          </p:cNvSpPr>
          <p:nvPr/>
        </p:nvSpPr>
        <p:spPr>
          <a:xfrm xmlns:a="http://schemas.openxmlformats.org/drawingml/2006/main">
            <a:off x="3933825" y="2571750"/>
            <a:ext cx="10477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10EC29F-3103-4E13-B131-68A05B22AAC1}"/>
              </a:ext>
            </a:extLst>
          </p:cNvPr>
          <p:cNvSpPr>
            <a:spLocks xmlns:a="http://schemas.openxmlformats.org/drawingml/2006/main" noGrp="1"/>
          </p:cNvSpPr>
          <p:nvPr/>
        </p:nvSpPr>
        <p:spPr>
          <a:xfrm xmlns:a="http://schemas.openxmlformats.org/drawingml/2006/main">
            <a:off x="5267325" y="2076450"/>
            <a:ext cx="28575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D267110B-AEFB-4AC4-81FE-BB8970E00673}"/>
              </a:ext>
            </a:extLst>
          </p:cNvPr>
          <p:cNvSpPr>
            <a:spLocks xmlns:a="http://schemas.openxmlformats.org/drawingml/2006/main" noGrp="1"/>
          </p:cNvSpPr>
          <p:nvPr/>
        </p:nvSpPr>
        <p:spPr>
          <a:xfrm xmlns:a="http://schemas.openxmlformats.org/drawingml/2006/main">
            <a:off x="5438775" y="2266950"/>
            <a:ext cx="2514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Integración pendiente</a:t>
            </a:r>
          </a:p>
        </p:txBody>
      </p:sp>
      <p:sp>
        <p:nvSpPr>
          <p:cNvPr id="8" name="">
            <a:extLst xmlns:a="http://schemas.openxmlformats.org/drawingml/2006/main">
              <a:ext uri="{FF2B5EF4-FFF2-40B4-BE49-F238E27FC236}">
                <a16:creationId xmlns:a16="http://schemas.microsoft.com/office/drawing/2014/main" id="{9953DDE1-6DA4-4E30-8829-DE621706BEA3}"/>
              </a:ext>
            </a:extLst>
          </p:cNvPr>
          <p:cNvSpPr>
            <a:spLocks xmlns:a="http://schemas.openxmlformats.org/drawingml/2006/main" noGrp="1"/>
          </p:cNvSpPr>
          <p:nvPr/>
        </p:nvSpPr>
        <p:spPr>
          <a:xfrm xmlns:a="http://schemas.openxmlformats.org/drawingml/2006/main">
            <a:off x="8410575" y="2571750"/>
            <a:ext cx="5143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2328BF-49D8-4367-8EB0-D46419AA0C0C}"/>
              </a:ext>
            </a:extLst>
          </p:cNvPr>
          <p:cNvSpPr>
            <a:spLocks xmlns:a="http://schemas.openxmlformats.org/drawingml/2006/main" noGrp="1"/>
          </p:cNvSpPr>
          <p:nvPr/>
        </p:nvSpPr>
        <p:spPr>
          <a:xfrm xmlns:a="http://schemas.openxmlformats.org/drawingml/2006/main">
            <a:off x="9210675" y="2076450"/>
            <a:ext cx="233362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0" name="">
            <a:extLst xmlns:a="http://schemas.openxmlformats.org/drawingml/2006/main">
              <a:ext uri="{FF2B5EF4-FFF2-40B4-BE49-F238E27FC236}">
                <a16:creationId xmlns:a16="http://schemas.microsoft.com/office/drawing/2014/main" id="{D27E4D61-5F9C-4DD7-B353-94C25B276A45}"/>
              </a:ext>
            </a:extLst>
          </p:cNvPr>
          <p:cNvSpPr>
            <a:spLocks xmlns:a="http://schemas.openxmlformats.org/drawingml/2006/main" noGrp="1"/>
          </p:cNvSpPr>
          <p:nvPr/>
        </p:nvSpPr>
        <p:spPr>
          <a:xfrm xmlns:a="http://schemas.openxmlformats.org/drawingml/2006/main">
            <a:off x="9382125" y="2266950"/>
            <a:ext cx="1990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ERP</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Gestión empresarial</a:t>
            </a:r>
          </a:p>
        </p:txBody>
      </p:sp>
      <p:sp>
        <p:nvSpPr>
          <p:cNvPr id="11" name="">
            <a:extLst xmlns:a="http://schemas.openxmlformats.org/drawingml/2006/main">
              <a:ext uri="{FF2B5EF4-FFF2-40B4-BE49-F238E27FC236}">
                <a16:creationId xmlns:a16="http://schemas.microsoft.com/office/drawing/2014/main" id="{95F31EB6-9D56-42D4-8795-46F53AE32A16}"/>
              </a:ext>
            </a:extLst>
          </p:cNvPr>
          <p:cNvSpPr>
            <a:spLocks xmlns:a="http://schemas.openxmlformats.org/drawingml/2006/main" noGrp="1"/>
          </p:cNvSpPr>
          <p:nvPr/>
        </p:nvSpPr>
        <p:spPr>
          <a:xfrm xmlns:a="http://schemas.openxmlformats.org/drawingml/2006/main">
            <a:off x="733425" y="3905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D2181E"/>
                </a:solidFill>
                <a:latin typeface="Arial"/>
                <a:ea typeface="Arial"/>
                <a:cs typeface="Arial"/>
              </a:defRPr>
            </a:pPr>
            <a:r>
              <a:rPr sz="2475" b="1">
                <a:solidFill>
                  <a:srgbClr val="D2181E"/>
                </a:solidFill>
                <a:latin typeface="Arial"/>
                <a:ea typeface="Arial"/>
                <a:cs typeface="Arial"/>
              </a:rPr>
              <a:t>Qué falta acordar</a:t>
            </a:r>
          </a:p>
        </p:txBody>
      </p:sp>
      <p:sp>
        <p:nvSpPr>
          <p:cNvPr id="12" name="">
            <a:extLst xmlns:a="http://schemas.openxmlformats.org/drawingml/2006/main">
              <a:ext uri="{FF2B5EF4-FFF2-40B4-BE49-F238E27FC236}">
                <a16:creationId xmlns:a16="http://schemas.microsoft.com/office/drawing/2014/main" id="{15D5D879-E41C-4BA4-967B-7EF9673FB35F}"/>
              </a:ext>
            </a:extLst>
          </p:cNvPr>
          <p:cNvSpPr>
            <a:spLocks xmlns:a="http://schemas.openxmlformats.org/drawingml/2006/main" noGrp="1"/>
          </p:cNvSpPr>
          <p:nvPr/>
        </p:nvSpPr>
        <p:spPr>
          <a:xfrm xmlns:a="http://schemas.openxmlformats.org/drawingml/2006/main">
            <a:off x="733425" y="45910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2696D"/>
                </a:solidFill>
                <a:latin typeface="Arial"/>
                <a:ea typeface="Arial"/>
                <a:cs typeface="Arial"/>
              </a:defRPr>
            </a:pPr>
            <a:r>
              <a:rPr sz="2175" b="0">
                <a:solidFill>
                  <a:srgbClr val="62696D"/>
                </a:solidFill>
                <a:latin typeface="Arial"/>
                <a:ea typeface="Arial"/>
                <a:cs typeface="Arial"/>
              </a:rPr>
              <a:t>Datos a intercambiar, validaciones</a:t>
            </a:r>
          </a:p>
          <a:p xmlns:a="http://schemas.openxmlformats.org/drawingml/2006/main">
            <a:pPr>
              <a:defRPr sz="2175" b="0">
                <a:solidFill>
                  <a:srgbClr val="62696D"/>
                </a:solidFill>
                <a:latin typeface="Arial"/>
                <a:ea typeface="Arial"/>
                <a:cs typeface="Arial"/>
              </a:defRPr>
            </a:pPr>
            <a:r>
              <a:rPr sz="2175" b="0">
                <a:solidFill>
                  <a:srgbClr val="62696D"/>
                </a:solidFill>
                <a:latin typeface="Arial"/>
                <a:ea typeface="Arial"/>
                <a:cs typeface="Arial"/>
              </a:rPr>
              <a:t>y frecuencia de actualización.</a:t>
            </a:r>
          </a:p>
        </p:txBody>
      </p:sp>
      <p:sp>
        <p:nvSpPr>
          <p:cNvPr id="13" name="">
            <a:extLst xmlns:a="http://schemas.openxmlformats.org/drawingml/2006/main">
              <a:ext uri="{FF2B5EF4-FFF2-40B4-BE49-F238E27FC236}">
                <a16:creationId xmlns:a16="http://schemas.microsoft.com/office/drawing/2014/main" id="{134462BE-AB77-476C-87B9-860C005C9475}"/>
              </a:ext>
            </a:extLst>
          </p:cNvPr>
          <p:cNvSpPr>
            <a:spLocks xmlns:a="http://schemas.openxmlformats.org/drawingml/2006/main" noGrp="1"/>
          </p:cNvSpPr>
          <p:nvPr/>
        </p:nvSpPr>
        <p:spPr>
          <a:xfrm xmlns:a="http://schemas.openxmlformats.org/drawingml/2006/main">
            <a:off x="6572250" y="3905250"/>
            <a:ext cx="490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62A2D"/>
                </a:solidFill>
                <a:latin typeface="Arial"/>
                <a:ea typeface="Arial"/>
                <a:cs typeface="Arial"/>
              </a:defRPr>
            </a:pPr>
            <a:r>
              <a:rPr sz="2475" b="1">
                <a:solidFill>
                  <a:srgbClr val="262A2D"/>
                </a:solidFill>
                <a:latin typeface="Arial"/>
                <a:ea typeface="Arial"/>
                <a:cs typeface="Arial"/>
              </a:rPr>
              <a:t>Evolución por empresa</a:t>
            </a:r>
          </a:p>
        </p:txBody>
      </p:sp>
      <p:sp>
        <p:nvSpPr>
          <p:cNvPr id="14" name="">
            <a:extLst xmlns:a="http://schemas.openxmlformats.org/drawingml/2006/main">
              <a:ext uri="{FF2B5EF4-FFF2-40B4-BE49-F238E27FC236}">
                <a16:creationId xmlns:a16="http://schemas.microsoft.com/office/drawing/2014/main" id="{E5D24DB6-FF37-4AEC-ABE9-8605128BA797}"/>
              </a:ext>
            </a:extLst>
          </p:cNvPr>
          <p:cNvSpPr>
            <a:spLocks xmlns:a="http://schemas.openxmlformats.org/drawingml/2006/main" noGrp="1"/>
          </p:cNvSpPr>
          <p:nvPr/>
        </p:nvSpPr>
        <p:spPr>
          <a:xfrm xmlns:a="http://schemas.openxmlformats.org/drawingml/2006/main">
            <a:off x="6572250" y="4591050"/>
            <a:ext cx="4905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2696D"/>
                </a:solidFill>
                <a:latin typeface="Arial"/>
                <a:ea typeface="Arial"/>
                <a:cs typeface="Arial"/>
              </a:defRPr>
            </a:pPr>
            <a:r>
              <a:rPr sz="2100" b="0">
                <a:solidFill>
                  <a:srgbClr val="62696D"/>
                </a:solidFill>
                <a:latin typeface="Arial"/>
                <a:ea typeface="Arial"/>
                <a:cs typeface="Arial"/>
              </a:rPr>
              <a:t>Ajustes de flujo y parametrizaciones</a:t>
            </a:r>
          </a:p>
          <a:p xmlns:a="http://schemas.openxmlformats.org/drawingml/2006/main">
            <a:pPr>
              <a:defRPr sz="2100" b="0">
                <a:solidFill>
                  <a:srgbClr val="62696D"/>
                </a:solidFill>
                <a:latin typeface="Arial"/>
                <a:ea typeface="Arial"/>
                <a:cs typeface="Arial"/>
              </a:defRPr>
            </a:pPr>
            <a:r>
              <a:rPr sz="2100" b="0">
                <a:solidFill>
                  <a:srgbClr val="62696D"/>
                </a:solidFill>
                <a:latin typeface="Arial"/>
                <a:ea typeface="Arial"/>
                <a:cs typeface="Arial"/>
              </a:rPr>
              <a:t>según la operación de cada empresa.</a:t>
            </a:r>
          </a:p>
        </p:txBody>
      </p:sp>
    </p:spTree>
    <p:extLst>
      <p:ext uri="{BB962C8B-B14F-4D97-AF65-F5344CB8AC3E}">
        <p14:creationId xmlns:p14="http://schemas.microsoft.com/office/powerpoint/2010/main" val="1579014723"/>
      </p:ext>
    </p:extLst>
  </p:cSld>
</p:sld>
</file>

<file path=ppt/slides/slide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7A5DF41-78CE-4529-A20A-4933EF96DB4B}"/>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Demostración en vivo</a:t>
            </a:r>
          </a:p>
        </p:txBody>
      </p:sp>
      <p:sp>
        <p:nvSpPr>
          <p:cNvPr id="2" name="">
            <a:extLst xmlns:a="http://schemas.openxmlformats.org/drawingml/2006/main">
              <a:ext uri="{FF2B5EF4-FFF2-40B4-BE49-F238E27FC236}">
                <a16:creationId xmlns:a16="http://schemas.microsoft.com/office/drawing/2014/main" id="{23716912-97B7-4243-8B40-3FC6AD8F54AA}"/>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A65AB7A-1487-4790-AC95-4244C9375098}"/>
              </a:ext>
            </a:extLst>
          </p:cNvPr>
          <p:cNvSpPr>
            <a:spLocks xmlns:a="http://schemas.openxmlformats.org/drawingml/2006/main" noGrp="1"/>
          </p:cNvSpPr>
          <p:nvPr/>
        </p:nvSpPr>
        <p:spPr>
          <a:xfrm xmlns:a="http://schemas.openxmlformats.org/drawingml/2006/main">
            <a:off x="704850" y="1800225"/>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181E"/>
                </a:solidFill>
                <a:latin typeface="Arial"/>
                <a:ea typeface="Arial"/>
                <a:cs typeface="Arial"/>
              </a:defRPr>
            </a:pPr>
            <a:r>
              <a:rPr sz="4800" b="1">
                <a:solidFill>
                  <a:srgbClr val="D2181E"/>
                </a:solidFill>
                <a:latin typeface="Arial"/>
                <a:ea typeface="Arial"/>
                <a:cs typeface="Arial"/>
              </a:rPr>
              <a:t>8 minutos</a:t>
            </a:r>
          </a:p>
        </p:txBody>
      </p:sp>
      <p:sp>
        <p:nvSpPr>
          <p:cNvPr id="4" name="">
            <a:extLst xmlns:a="http://schemas.openxmlformats.org/drawingml/2006/main">
              <a:ext uri="{FF2B5EF4-FFF2-40B4-BE49-F238E27FC236}">
                <a16:creationId xmlns:a16="http://schemas.microsoft.com/office/drawing/2014/main" id="{D5148E67-281F-485A-9B2A-3AD4F2E91E31}"/>
              </a:ext>
            </a:extLst>
          </p:cNvPr>
          <p:cNvSpPr>
            <a:spLocks xmlns:a="http://schemas.openxmlformats.org/drawingml/2006/main" noGrp="1"/>
          </p:cNvSpPr>
          <p:nvPr/>
        </p:nvSpPr>
        <p:spPr>
          <a:xfrm xmlns:a="http://schemas.openxmlformats.org/drawingml/2006/main">
            <a:off x="6286500" y="1752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1D528B3-34A4-445D-807E-3F487C3D2446}"/>
              </a:ext>
            </a:extLst>
          </p:cNvPr>
          <p:cNvSpPr>
            <a:spLocks xmlns:a="http://schemas.openxmlformats.org/drawingml/2006/main" noGrp="1"/>
          </p:cNvSpPr>
          <p:nvPr/>
        </p:nvSpPr>
        <p:spPr>
          <a:xfrm xmlns:a="http://schemas.openxmlformats.org/drawingml/2006/main">
            <a:off x="7219950" y="17526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Login y contexto</a:t>
            </a:r>
          </a:p>
        </p:txBody>
      </p:sp>
      <p:sp>
        <p:nvSpPr>
          <p:cNvPr id="6" name="">
            <a:extLst xmlns:a="http://schemas.openxmlformats.org/drawingml/2006/main">
              <a:ext uri="{FF2B5EF4-FFF2-40B4-BE49-F238E27FC236}">
                <a16:creationId xmlns:a16="http://schemas.microsoft.com/office/drawing/2014/main" id="{A5F50530-1F55-4C68-B8A7-48416B001E70}"/>
              </a:ext>
            </a:extLst>
          </p:cNvPr>
          <p:cNvSpPr>
            <a:spLocks xmlns:a="http://schemas.openxmlformats.org/drawingml/2006/main" noGrp="1"/>
          </p:cNvSpPr>
          <p:nvPr/>
        </p:nvSpPr>
        <p:spPr>
          <a:xfrm xmlns:a="http://schemas.openxmlformats.org/drawingml/2006/main">
            <a:off x="7219950" y="22193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Empresa, granja y lote</a:t>
            </a:r>
          </a:p>
        </p:txBody>
      </p:sp>
      <p:sp>
        <p:nvSpPr>
          <p:cNvPr id="7" name="">
            <a:extLst xmlns:a="http://schemas.openxmlformats.org/drawingml/2006/main">
              <a:ext uri="{FF2B5EF4-FFF2-40B4-BE49-F238E27FC236}">
                <a16:creationId xmlns:a16="http://schemas.microsoft.com/office/drawing/2014/main" id="{455CCA23-3F1C-489E-8F9F-AF6D76ED6C85}"/>
              </a:ext>
            </a:extLst>
          </p:cNvPr>
          <p:cNvSpPr>
            <a:spLocks xmlns:a="http://schemas.openxmlformats.org/drawingml/2006/main" noGrp="1"/>
          </p:cNvSpPr>
          <p:nvPr/>
        </p:nvSpPr>
        <p:spPr>
          <a:xfrm xmlns:a="http://schemas.openxmlformats.org/drawingml/2006/main">
            <a:off x="6286500" y="28003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F8FCE35-3929-4B40-89DC-302F4D6EE598}"/>
              </a:ext>
            </a:extLst>
          </p:cNvPr>
          <p:cNvSpPr>
            <a:spLocks xmlns:a="http://schemas.openxmlformats.org/drawingml/2006/main" noGrp="1"/>
          </p:cNvSpPr>
          <p:nvPr/>
        </p:nvSpPr>
        <p:spPr>
          <a:xfrm xmlns:a="http://schemas.openxmlformats.org/drawingml/2006/main">
            <a:off x="7219950" y="28003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Alimento y seguimiento</a:t>
            </a:r>
          </a:p>
        </p:txBody>
      </p:sp>
      <p:sp>
        <p:nvSpPr>
          <p:cNvPr id="9" name="">
            <a:extLst xmlns:a="http://schemas.openxmlformats.org/drawingml/2006/main">
              <a:ext uri="{FF2B5EF4-FFF2-40B4-BE49-F238E27FC236}">
                <a16:creationId xmlns:a16="http://schemas.microsoft.com/office/drawing/2014/main" id="{283C50EA-CDAC-4DBB-994A-AC5911B4A763}"/>
              </a:ext>
            </a:extLst>
          </p:cNvPr>
          <p:cNvSpPr>
            <a:spLocks xmlns:a="http://schemas.openxmlformats.org/drawingml/2006/main" noGrp="1"/>
          </p:cNvSpPr>
          <p:nvPr/>
        </p:nvSpPr>
        <p:spPr>
          <a:xfrm xmlns:a="http://schemas.openxmlformats.org/drawingml/2006/main">
            <a:off x="7219950" y="32670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Ingreso, consumo y novedad</a:t>
            </a:r>
          </a:p>
        </p:txBody>
      </p:sp>
      <p:sp>
        <p:nvSpPr>
          <p:cNvPr id="10" name="">
            <a:extLst xmlns:a="http://schemas.openxmlformats.org/drawingml/2006/main">
              <a:ext uri="{FF2B5EF4-FFF2-40B4-BE49-F238E27FC236}">
                <a16:creationId xmlns:a16="http://schemas.microsoft.com/office/drawing/2014/main" id="{1E5E9E1F-3C8C-45F6-A812-D22C059551F1}"/>
              </a:ext>
            </a:extLst>
          </p:cNvPr>
          <p:cNvSpPr>
            <a:spLocks xmlns:a="http://schemas.openxmlformats.org/drawingml/2006/main" noGrp="1"/>
          </p:cNvSpPr>
          <p:nvPr/>
        </p:nvSpPr>
        <p:spPr>
          <a:xfrm xmlns:a="http://schemas.openxmlformats.org/drawingml/2006/main">
            <a:off x="6286500" y="38481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3CAF07E-BF93-41F4-8BAA-AD4BBA79C9F6}"/>
              </a:ext>
            </a:extLst>
          </p:cNvPr>
          <p:cNvSpPr>
            <a:spLocks xmlns:a="http://schemas.openxmlformats.org/drawingml/2006/main" noGrp="1"/>
          </p:cNvSpPr>
          <p:nvPr/>
        </p:nvSpPr>
        <p:spPr>
          <a:xfrm xmlns:a="http://schemas.openxmlformats.org/drawingml/2006/main">
            <a:off x="7219950" y="38481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Producción de huevos</a:t>
            </a:r>
          </a:p>
        </p:txBody>
      </p:sp>
      <p:sp>
        <p:nvSpPr>
          <p:cNvPr id="12" name="">
            <a:extLst xmlns:a="http://schemas.openxmlformats.org/drawingml/2006/main">
              <a:ext uri="{FF2B5EF4-FFF2-40B4-BE49-F238E27FC236}">
                <a16:creationId xmlns:a16="http://schemas.microsoft.com/office/drawing/2014/main" id="{E778621D-C75F-4F35-BC27-DEC283E0D309}"/>
              </a:ext>
            </a:extLst>
          </p:cNvPr>
          <p:cNvSpPr>
            <a:spLocks xmlns:a="http://schemas.openxmlformats.org/drawingml/2006/main" noGrp="1"/>
          </p:cNvSpPr>
          <p:nvPr/>
        </p:nvSpPr>
        <p:spPr>
          <a:xfrm xmlns:a="http://schemas.openxmlformats.org/drawingml/2006/main">
            <a:off x="7219950" y="43148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Cantidad y clasificación</a:t>
            </a:r>
          </a:p>
        </p:txBody>
      </p:sp>
      <p:sp>
        <p:nvSpPr>
          <p:cNvPr id="13" name="">
            <a:extLst xmlns:a="http://schemas.openxmlformats.org/drawingml/2006/main">
              <a:ext uri="{FF2B5EF4-FFF2-40B4-BE49-F238E27FC236}">
                <a16:creationId xmlns:a16="http://schemas.microsoft.com/office/drawing/2014/main" id="{C0F8E535-B04E-40CD-8BBE-799EF998948D}"/>
              </a:ext>
            </a:extLst>
          </p:cNvPr>
          <p:cNvSpPr>
            <a:spLocks xmlns:a="http://schemas.openxmlformats.org/drawingml/2006/main" noGrp="1"/>
          </p:cNvSpPr>
          <p:nvPr/>
        </p:nvSpPr>
        <p:spPr>
          <a:xfrm xmlns:a="http://schemas.openxmlformats.org/drawingml/2006/main">
            <a:off x="6286500" y="48958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5963A97-E5E2-4C81-B993-C13DDF50D730}"/>
              </a:ext>
            </a:extLst>
          </p:cNvPr>
          <p:cNvSpPr>
            <a:spLocks xmlns:a="http://schemas.openxmlformats.org/drawingml/2006/main" noGrp="1"/>
          </p:cNvSpPr>
          <p:nvPr/>
        </p:nvSpPr>
        <p:spPr>
          <a:xfrm xmlns:a="http://schemas.openxmlformats.org/drawingml/2006/main">
            <a:off x="7219950" y="48958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Resultado visible</a:t>
            </a:r>
          </a:p>
        </p:txBody>
      </p:sp>
      <p:sp>
        <p:nvSpPr>
          <p:cNvPr id="15" name="">
            <a:extLst xmlns:a="http://schemas.openxmlformats.org/drawingml/2006/main">
              <a:ext uri="{FF2B5EF4-FFF2-40B4-BE49-F238E27FC236}">
                <a16:creationId xmlns:a16="http://schemas.microsoft.com/office/drawing/2014/main" id="{8F4F8C3F-CC8F-4921-8636-BFF36D5CE3B7}"/>
              </a:ext>
            </a:extLst>
          </p:cNvPr>
          <p:cNvSpPr>
            <a:spLocks xmlns:a="http://schemas.openxmlformats.org/drawingml/2006/main" noGrp="1"/>
          </p:cNvSpPr>
          <p:nvPr/>
        </p:nvSpPr>
        <p:spPr>
          <a:xfrm xmlns:a="http://schemas.openxmlformats.org/drawingml/2006/main">
            <a:off x="7219950" y="53625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Registro, consulta y reporte</a:t>
            </a:r>
          </a:p>
        </p:txBody>
      </p:sp>
      <p:sp>
        <p:nvSpPr>
          <p:cNvPr id="16" name="">
            <a:extLst xmlns:a="http://schemas.openxmlformats.org/drawingml/2006/main">
              <a:ext uri="{FF2B5EF4-FFF2-40B4-BE49-F238E27FC236}">
                <a16:creationId xmlns:a16="http://schemas.microsoft.com/office/drawing/2014/main" id="{E80D31C0-ED90-4ACB-929F-E5E6E4FDF0D8}"/>
              </a:ext>
            </a:extLst>
          </p:cNvPr>
          <p:cNvSpPr>
            <a:spLocks xmlns:a="http://schemas.openxmlformats.org/drawingml/2006/main" noGrp="1"/>
          </p:cNvSpPr>
          <p:nvPr/>
        </p:nvSpPr>
        <p:spPr>
          <a:xfrm xmlns:a="http://schemas.openxmlformats.org/drawingml/2006/main">
            <a:off x="742950" y="3105150"/>
            <a:ext cx="4857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62A2D"/>
                </a:solidFill>
                <a:latin typeface="Arial"/>
                <a:ea typeface="Arial"/>
                <a:cs typeface="Arial"/>
              </a:defRPr>
            </a:pPr>
            <a:r>
              <a:rPr sz="2925" b="1">
                <a:solidFill>
                  <a:srgbClr val="262A2D"/>
                </a:solidFill>
                <a:latin typeface="Arial"/>
                <a:ea typeface="Arial"/>
                <a:cs typeface="Arial"/>
              </a:rPr>
              <a:t>Un mismo contexto</a:t>
            </a:r>
          </a:p>
          <a:p xmlns:a="http://schemas.openxmlformats.org/drawingml/2006/main">
            <a:pPr>
              <a:defRPr sz="2925" b="1">
                <a:solidFill>
                  <a:srgbClr val="262A2D"/>
                </a:solidFill>
                <a:latin typeface="Arial"/>
                <a:ea typeface="Arial"/>
                <a:cs typeface="Arial"/>
              </a:defRPr>
            </a:pPr>
            <a:r>
              <a:rPr sz="2925" b="1">
                <a:solidFill>
                  <a:srgbClr val="262A2D"/>
                </a:solidFill>
                <a:latin typeface="Arial"/>
                <a:ea typeface="Arial"/>
                <a:cs typeface="Arial"/>
              </a:rPr>
              <a:t>durante todo el recorrido</a:t>
            </a:r>
          </a:p>
        </p:txBody>
      </p:sp>
      <p:sp>
        <p:nvSpPr>
          <p:cNvPr id="17" name="">
            <a:extLst xmlns:a="http://schemas.openxmlformats.org/drawingml/2006/main">
              <a:ext uri="{FF2B5EF4-FFF2-40B4-BE49-F238E27FC236}">
                <a16:creationId xmlns:a16="http://schemas.microsoft.com/office/drawing/2014/main" id="{A87D6986-F9E0-4770-8F30-655FAF3275E8}"/>
              </a:ext>
            </a:extLst>
          </p:cNvPr>
          <p:cNvSpPr>
            <a:spLocks xmlns:a="http://schemas.openxmlformats.org/drawingml/2006/main" noGrp="1"/>
          </p:cNvSpPr>
          <p:nvPr/>
        </p:nvSpPr>
        <p:spPr>
          <a:xfrm xmlns:a="http://schemas.openxmlformats.org/drawingml/2006/main">
            <a:off x="742950" y="486727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2696D"/>
                </a:solidFill>
                <a:latin typeface="Arial"/>
                <a:ea typeface="Arial"/>
                <a:cs typeface="Arial"/>
              </a:defRPr>
            </a:pPr>
            <a:r>
              <a:rPr sz="2250" b="0">
                <a:solidFill>
                  <a:srgbClr val="62696D"/>
                </a:solidFill>
                <a:latin typeface="Arial"/>
                <a:ea typeface="Arial"/>
                <a:cs typeface="Arial"/>
              </a:rPr>
              <a:t>Captura en granja,</a:t>
            </a:r>
          </a:p>
          <a:p xmlns:a="http://schemas.openxmlformats.org/drawingml/2006/main">
            <a:pPr>
              <a:defRPr sz="2250" b="0">
                <a:solidFill>
                  <a:srgbClr val="62696D"/>
                </a:solidFill>
                <a:latin typeface="Arial"/>
                <a:ea typeface="Arial"/>
                <a:cs typeface="Arial"/>
              </a:defRPr>
            </a:pPr>
            <a:r>
              <a:rPr sz="2250" b="0">
                <a:solidFill>
                  <a:srgbClr val="62696D"/>
                </a:solidFill>
                <a:latin typeface="Arial"/>
                <a:ea typeface="Arial"/>
                <a:cs typeface="Arial"/>
              </a:rPr>
              <a:t>consulta para decidir.</a:t>
            </a:r>
          </a:p>
        </p:txBody>
      </p:sp>
    </p:spTree>
    <p:extLst>
      <p:ext uri="{BB962C8B-B14F-4D97-AF65-F5344CB8AC3E}">
        <p14:creationId xmlns:p14="http://schemas.microsoft.com/office/powerpoint/2010/main" val="1538084686"/>
      </p:ext>
    </p:extLst>
  </p:cSld>
</p:sld>
</file>

<file path=ppt/slides/slide1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AB18E8-CE0B-4BDA-91CC-22F45627824F}"/>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Preguntas y próximos acuerdos</a:t>
            </a:r>
          </a:p>
        </p:txBody>
      </p:sp>
      <p:sp>
        <p:nvSpPr>
          <p:cNvPr id="2" name="">
            <a:extLst xmlns:a="http://schemas.openxmlformats.org/drawingml/2006/main">
              <a:ext uri="{FF2B5EF4-FFF2-40B4-BE49-F238E27FC236}">
                <a16:creationId xmlns:a16="http://schemas.microsoft.com/office/drawing/2014/main" id="{B91C3587-384A-415B-A086-2E7526D22C4D}"/>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E78DB917-A87A-4E1A-9CAD-3A0D29B54A44}"/>
              </a:ext>
            </a:extLst>
          </p:cNvPr>
          <p:cNvSpPr>
            <a:spLocks xmlns:a="http://schemas.openxmlformats.org/drawingml/2006/main" noGrp="1"/>
          </p:cNvSpPr>
          <p:nvPr/>
        </p:nvSpPr>
        <p:spPr>
          <a:xfrm xmlns:a="http://schemas.openxmlformats.org/drawingml/2006/main">
            <a:off x="733425" y="197167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2181E"/>
                </a:solidFill>
                <a:latin typeface="Arial"/>
                <a:ea typeface="Arial"/>
                <a:cs typeface="Arial"/>
              </a:defRPr>
            </a:pPr>
            <a:r>
              <a:rPr sz="3225" b="1">
                <a:solidFill>
                  <a:srgbClr val="D2181E"/>
                </a:solidFill>
                <a:latin typeface="Arial"/>
                <a:ea typeface="Arial"/>
                <a:cs typeface="Arial"/>
              </a:rPr>
              <a:t>ERP</a:t>
            </a:r>
          </a:p>
        </p:txBody>
      </p:sp>
      <p:sp>
        <p:nvSpPr>
          <p:cNvPr id="4" name="">
            <a:extLst xmlns:a="http://schemas.openxmlformats.org/drawingml/2006/main">
              <a:ext uri="{FF2B5EF4-FFF2-40B4-BE49-F238E27FC236}">
                <a16:creationId xmlns:a16="http://schemas.microsoft.com/office/drawing/2014/main" id="{6384385A-2C1A-4D38-A59E-0C55CCEC0B85}"/>
              </a:ext>
            </a:extLst>
          </p:cNvPr>
          <p:cNvSpPr>
            <a:spLocks xmlns:a="http://schemas.openxmlformats.org/drawingml/2006/main" noGrp="1"/>
          </p:cNvSpPr>
          <p:nvPr/>
        </p:nvSpPr>
        <p:spPr>
          <a:xfrm xmlns:a="http://schemas.openxmlformats.org/drawingml/2006/main">
            <a:off x="733425" y="27717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62A2D"/>
                </a:solidFill>
                <a:latin typeface="Arial"/>
                <a:ea typeface="Arial"/>
                <a:cs typeface="Arial"/>
              </a:defRPr>
            </a:pPr>
            <a:r>
              <a:rPr sz="2400" b="0">
                <a:solidFill>
                  <a:srgbClr val="262A2D"/>
                </a:solidFill>
                <a:latin typeface="Arial"/>
                <a:ea typeface="Arial"/>
                <a:cs typeface="Arial"/>
              </a:rPr>
              <a:t>¿Qué información</a:t>
            </a:r>
          </a:p>
          <a:p xmlns:a="http://schemas.openxmlformats.org/drawingml/2006/main">
            <a:pPr>
              <a:defRPr sz="2400" b="0">
                <a:solidFill>
                  <a:srgbClr val="262A2D"/>
                </a:solidFill>
                <a:latin typeface="Arial"/>
                <a:ea typeface="Arial"/>
                <a:cs typeface="Arial"/>
              </a:defRPr>
            </a:pPr>
            <a:r>
              <a:rPr sz="2400" b="0">
                <a:solidFill>
                  <a:srgbClr val="262A2D"/>
                </a:solidFill>
                <a:latin typeface="Arial"/>
                <a:ea typeface="Arial"/>
                <a:cs typeface="Arial"/>
              </a:rPr>
              <a:t>priorizamos integrar?</a:t>
            </a:r>
          </a:p>
        </p:txBody>
      </p:sp>
      <p:sp>
        <p:nvSpPr>
          <p:cNvPr id="5" name="">
            <a:extLst xmlns:a="http://schemas.openxmlformats.org/drawingml/2006/main">
              <a:ext uri="{FF2B5EF4-FFF2-40B4-BE49-F238E27FC236}">
                <a16:creationId xmlns:a16="http://schemas.microsoft.com/office/drawing/2014/main" id="{096B71BC-0B54-4D68-8E16-26ADE9F44B74}"/>
              </a:ext>
            </a:extLst>
          </p:cNvPr>
          <p:cNvSpPr>
            <a:spLocks xmlns:a="http://schemas.openxmlformats.org/drawingml/2006/main" noGrp="1"/>
          </p:cNvSpPr>
          <p:nvPr/>
        </p:nvSpPr>
        <p:spPr>
          <a:xfrm xmlns:a="http://schemas.openxmlformats.org/drawingml/2006/main">
            <a:off x="4505325" y="19716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2181E"/>
                </a:solidFill>
                <a:latin typeface="Arial"/>
                <a:ea typeface="Arial"/>
                <a:cs typeface="Arial"/>
              </a:defRPr>
            </a:pPr>
            <a:r>
              <a:rPr sz="3225" b="1">
                <a:solidFill>
                  <a:srgbClr val="D2181E"/>
                </a:solidFill>
                <a:latin typeface="Arial"/>
                <a:ea typeface="Arial"/>
                <a:cs typeface="Arial"/>
              </a:rPr>
              <a:t>Postura y móvil</a:t>
            </a:r>
          </a:p>
        </p:txBody>
      </p:sp>
      <p:sp>
        <p:nvSpPr>
          <p:cNvPr id="6" name="">
            <a:extLst xmlns:a="http://schemas.openxmlformats.org/drawingml/2006/main">
              <a:ext uri="{FF2B5EF4-FFF2-40B4-BE49-F238E27FC236}">
                <a16:creationId xmlns:a16="http://schemas.microsoft.com/office/drawing/2014/main" id="{5FE93E5E-5AC2-48CB-9A71-F879680890C9}"/>
              </a:ext>
            </a:extLst>
          </p:cNvPr>
          <p:cNvSpPr>
            <a:spLocks xmlns:a="http://schemas.openxmlformats.org/drawingml/2006/main" noGrp="1"/>
          </p:cNvSpPr>
          <p:nvPr/>
        </p:nvSpPr>
        <p:spPr>
          <a:xfrm xmlns:a="http://schemas.openxmlformats.org/drawingml/2006/main">
            <a:off x="4505325" y="2771775"/>
            <a:ext cx="34766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¿Qué falta para cerrar</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postura y preparar</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el despliegue móvil?</a:t>
            </a:r>
          </a:p>
        </p:txBody>
      </p:sp>
      <p:sp>
        <p:nvSpPr>
          <p:cNvPr id="7" name="">
            <a:extLst xmlns:a="http://schemas.openxmlformats.org/drawingml/2006/main">
              <a:ext uri="{FF2B5EF4-FFF2-40B4-BE49-F238E27FC236}">
                <a16:creationId xmlns:a16="http://schemas.microsoft.com/office/drawing/2014/main" id="{78F71574-C9BD-463C-8C0E-0389452CB6CB}"/>
              </a:ext>
            </a:extLst>
          </p:cNvPr>
          <p:cNvSpPr>
            <a:spLocks xmlns:a="http://schemas.openxmlformats.org/drawingml/2006/main" noGrp="1"/>
          </p:cNvSpPr>
          <p:nvPr/>
        </p:nvSpPr>
        <p:spPr>
          <a:xfrm xmlns:a="http://schemas.openxmlformats.org/drawingml/2006/main">
            <a:off x="8496300" y="19716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2181E"/>
                </a:solidFill>
                <a:latin typeface="Arial"/>
                <a:ea typeface="Arial"/>
                <a:cs typeface="Arial"/>
              </a:defRPr>
            </a:pPr>
            <a:r>
              <a:rPr sz="3225" b="1">
                <a:solidFill>
                  <a:srgbClr val="D2181E"/>
                </a:solidFill>
                <a:latin typeface="Arial"/>
                <a:ea typeface="Arial"/>
                <a:cs typeface="Arial"/>
              </a:rPr>
              <a:t>Por empresa</a:t>
            </a:r>
          </a:p>
        </p:txBody>
      </p:sp>
      <p:sp>
        <p:nvSpPr>
          <p:cNvPr id="8" name="">
            <a:extLst xmlns:a="http://schemas.openxmlformats.org/drawingml/2006/main">
              <a:ext uri="{FF2B5EF4-FFF2-40B4-BE49-F238E27FC236}">
                <a16:creationId xmlns:a16="http://schemas.microsoft.com/office/drawing/2014/main" id="{34523954-F4F1-4908-B4F4-AA1280852856}"/>
              </a:ext>
            </a:extLst>
          </p:cNvPr>
          <p:cNvSpPr>
            <a:spLocks xmlns:a="http://schemas.openxmlformats.org/drawingml/2006/main" noGrp="1"/>
          </p:cNvSpPr>
          <p:nvPr/>
        </p:nvSpPr>
        <p:spPr>
          <a:xfrm xmlns:a="http://schemas.openxmlformats.org/drawingml/2006/main">
            <a:off x="8496300" y="2771775"/>
            <a:ext cx="304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¿Qué mejoras</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priorizamos según</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la operación?</a:t>
            </a:r>
          </a:p>
        </p:txBody>
      </p:sp>
      <p:sp>
        <p:nvSpPr>
          <p:cNvPr id="9" name="">
            <a:extLst xmlns:a="http://schemas.openxmlformats.org/drawingml/2006/main">
              <a:ext uri="{FF2B5EF4-FFF2-40B4-BE49-F238E27FC236}">
                <a16:creationId xmlns:a16="http://schemas.microsoft.com/office/drawing/2014/main" id="{A54BE74D-FE48-41F3-A193-B741241389BE}"/>
              </a:ext>
            </a:extLst>
          </p:cNvPr>
          <p:cNvSpPr>
            <a:spLocks xmlns:a="http://schemas.openxmlformats.org/drawingml/2006/main" noGrp="1"/>
          </p:cNvSpPr>
          <p:nvPr/>
        </p:nvSpPr>
        <p:spPr>
          <a:xfrm xmlns:a="http://schemas.openxmlformats.org/drawingml/2006/main">
            <a:off x="742950" y="55054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2696D"/>
                </a:solidFill>
                <a:latin typeface="Arial"/>
                <a:ea typeface="Arial"/>
                <a:cs typeface="Arial"/>
              </a:defRPr>
            </a:pPr>
            <a:r>
              <a:rPr sz="2250" b="0">
                <a:solidFill>
                  <a:srgbClr val="62696D"/>
                </a:solidFill>
                <a:latin typeface="Arial"/>
                <a:ea typeface="Arial"/>
                <a:cs typeface="Arial"/>
              </a:rPr>
              <a:t>Los acuerdos definirán responsables y siguientes pasos.</a:t>
            </a:r>
          </a:p>
        </p:txBody>
      </p:sp>
    </p:spTree>
    <p:extLst>
      <p:ext uri="{BB962C8B-B14F-4D97-AF65-F5344CB8AC3E}">
        <p14:creationId xmlns:p14="http://schemas.microsoft.com/office/powerpoint/2010/main" val="985025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2026-09-14T14:12:22.5600000Z</dcterms:created>
  <dcterms:modified xsi:type="dcterms:W3CDTF">2026-09-14T14:12:22.5600000Z</dcterms:modified>
</coreProperties>
</file>